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0:00–0:20 (~45 words)</a:t>
            </a:r>
          </a:p>
          <a:p/>
          <a:p>
            <a:r>
              <a:t>"Good morning. We are team VayuNetra — Omkar, Sejal and Abhinav. India can measure its air and forecast its air. What it cannot do is ACT on it. We built the layer that acts — and it is running live, right now, in ten Indian cities — including Hyderabad."</a:t>
            </a:r>
          </a:p>
          <a:p/>
          <a:p>
            <a:r>
              <a:t>[Advance on 'right now' — momentum into the problem slide.]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0:20–1:10 (~115 words)</a:t>
            </a:r>
          </a:p>
          <a:p/>
          <a:p>
            <a:r>
              <a:t>"India's air crisis is not a data problem. Nine hundred monitoring stations already stream readings under the National Clean Air Programme. 1.67 million people still die early every year. Why? A 2024 CAG audit found that only 31 percent of monitored cities have ANY response protocol linked to those readings. A number goes red on a dashboard — and nothing happens. Because the dashboard cannot answer the three questions an officer actually has: WHO is polluting this square kilometre right now, what will the air be TOMORROW, and WHERE do I send my inspectors first. That missing layer is what we built."</a:t>
            </a:r>
          </a:p>
          <a:p/>
          <a:p>
            <a:r>
              <a:t>[Point at the 31% card on 'nothing happens'.]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1:10–2:10 (~130 words)</a:t>
            </a:r>
          </a:p>
          <a:p/>
          <a:p>
            <a:r>
              <a:t>"VayuNetra closes that loop in four steps, on one spatial unit: the city divided into one-square-kilometre cells. TRACE: a machine-learning model attributes the PM2.5 in every cell to traffic, construction, industry or burning — with SHAP evidence, and it ABSTAINS to cited chemical signatures where it lacks skill. It never over-claims. PREDICT: 72-hour forecasts per cell with calibrated uncertainty — and every place carries its own past: a year of daily air, so you can see whether it is getting better or worse. ACT: a ranked worklist for officers — every item carries real Sentinel-2 satellite evidence, retrieved regulatory citations, and a draft notice PDF. PROTECT: advisories in four languages — app, Telegram, real IVR phone calls, public displays. Six agents run this end to end; the measured time from signal to cited action is under ten seconds. Abhinav will now show you — live."</a:t>
            </a:r>
          </a:p>
          <a:p/>
          <a:p>
            <a:r>
              <a:t>[Hand over to ABHINAV on 'live'.]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ABHINAV · 2:10–5:10 — LIVE DEMO, 3 minutes. App on localhost, DEMO-safe.</a:t>
            </a:r>
          </a:p>
          <a:p/>
          <a:p>
            <a:r>
              <a:t>Checkpoint script (leave this slide up only a beat, then switch to the app):</a:t>
            </a:r>
          </a:p>
          <a:p>
            <a:r>
              <a:t>1) BLAME MAP (45s): 'This is Delhi, live. Every hexagon is one square kilometre, coloured by who is to blame.' Click a red cell → Cell Story: place name, traffic share, the green SHAP box — 'the model shows its own evidence and its own R-squared.' Scroll to PAST AIR: 'and here is this place's own history — worse than a month ago, in plain words.' Point at the 72-hour outlook.</a:t>
            </a:r>
          </a:p>
          <a:p>
            <a:r>
              <a:t>2) ENFORCEMENT (60s): open worklist → top card — read contribution % + residents exposed. Click Evidence dossier → real Sentinel-2 patch + citations. Click Notice PDF → scroll to the projected-impact chart. 'An officer signs this. We never auto-send.'</a:t>
            </a:r>
          </a:p>
          <a:p>
            <a:r>
              <a:t>3) ADVISORIES (40s): switch language to Hindi → channel tabs → IVR call tab. 'The same intelligence reaches people who never open dashboards — real phone calls, press 1 for Delhi.'</a:t>
            </a:r>
          </a:p>
          <a:p>
            <a:r>
              <a:t>4) PIPELINE (40s): click Run agents live → trace fills in. 'Six agents, spike gate decided, seconds end to end — you just watched it happen. Everything you just saw is auditable per node.'</a:t>
            </a:r>
          </a:p>
          <a:p/>
          <a:p>
            <a:r>
              <a:t>FALLBACK: if the app fails for any reason, this slide's checkpoints let Sejal narrate over the appendix screenshots (A2–A4) without breaking stride.</a:t>
            </a:r>
          </a:p>
          <a:p>
            <a:r>
              <a:t>Hand back to SEJAL after the pipeline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5:10–6:00 (~110 words)</a:t>
            </a:r>
          </a:p>
          <a:p/>
          <a:p>
            <a:r>
              <a:t>"Everything you just saw is measured, not asserted. Our source attribution was cross-checked against the official emission inventories — cosine similarity 0.92 for Delhi. It behaves physically: traffic's influence is 2.3 times higher in rush hours. The forecast beats the honest baseline — persistence — in every launch city. When we audited our own uncertainty bands we found them under-covering, and we fixed them with conformal calibration. And we trained a deep-learning forecaster on GPU — and rejected it, because gradient boosting won on held-out skill. We keep our failures in the repo. A hundred and eighty tests run on every push."</a:t>
            </a:r>
          </a:p>
          <a:p/>
          <a:p>
            <a:r>
              <a:t>[Slow down on 'and rejected it' — that line earns trust.]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6:00–6:45 (~100 words)</a:t>
            </a:r>
          </a:p>
          <a:p/>
          <a:p>
            <a:r>
              <a:t>"And it's built to deploy, not just to demo. Every intervention is costed with cited health economics: one waste-burning ban avoids twenty-five lakh rupees of health cost in a single day. Delhi's avoidable burden is 0.88 lakh crore per year — that is the NCAP funding case, made per-city. The platform runs at production scale today: ten cities, over sixteen thousand modeled cells, 647 tracked sources, five and a half thousand vulnerability zones — on infrastructure that costs zero rupees, which happens to be exactly the budget of most municipal pilots. And adding a city is a config file, not a project — we onboarded seven metros, including Hyderabad, from config in one week."</a:t>
            </a:r>
          </a:p>
          <a:p/>
          <a:p>
            <a:r>
              <a:t>[Numbers refreshed from the live production DB, 15 Aug 2026.]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6:45–7:15 (~65 words)</a:t>
            </a:r>
          </a:p>
          <a:p/>
          <a:p>
            <a:r>
              <a:t>"India's air stack can measure, and it can forecast. VayuNetra makes it operate — traced, predicted, cited, and delivered to the people breathing it. In seconds, in four languages, for zero rupees. Everything we showed you is live at vayunetra-aqi.vercel.app, and every claim we made is reproducible from the repository. We're Omkar, Sejal and Abhinav — and we're happy to take your questions."</a:t>
            </a:r>
          </a:p>
          <a:p/>
          <a:p>
            <a:r>
              <a:t>[All three stand for Q&amp;A. Appendix slides A1–A12 are ready for specific questions.]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Divider — do not present. Pull up A1–A12 as jury questions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 — for 'how is it built?' Two seams: schema + API contract. Six agents. One ~1 km² spatial unit everywhere. New city = one YAML.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A2 — for 'what do the agents actually do?' Orchestrator → attribution → forecast → spike gate → enforcement → advisory (+ multi-city). Run it live from this slide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A3 — for 'would an officer trust this?' Real satellite patch, retrieved (not generated) citations, draft-only notices, before/after intervention tracking after dispatch.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A4 — for 'how does this reach real people?' Health text is deterministic templates — an LLM is never allowed to write medical advice. IVR works inbound and outbound.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A8 — for 'does it scale?' Show this: 10 live cities, ranked. Hyderabad (this room) added from a YAML + one backfill. Data: 35-day OpenAQ + ERA5 history per city; models trained per city; NCAP-cited enforcement outside NCR.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A9 — for 'can citizens/officers see trends?' Real station readings aggregated per day (SQL); per-cell or per-city; verdict compares the latest week with the week a month earlier; cells without a long station record honestly show the nearest monitored cell and say how far. Works offline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A5 — for deep technical questions on the models. Full numbers, both baselines, failures included.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A6 — for 'can we trust it?' / fairness / liability questions. These are engineering constraints, not values statements.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A7 — for 'what does it cost?' / 'how does it scale?' / 'what's next?'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A10 — for 'India already has SAFAR / the DSS / PRANA — what do you add?' Answer with the CEEW audit, not opinion: 5 of 14 severe episodes caught last winter, GRAP III/IV triggered on OBSERVED AQI, DSS is government-only, no outcome monitoring. We built for exactly those four gaps and we feed PRANA rather than compete with it. We do NOT claim to out-model WRF-Chem.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A11 — for 'how good is the forecast, really?' / 'can it warn before a spike?' Real CPCB data, 39 Delhi station cells, the whole 2025-26 winter as test, model retrained monthly on the trailing 90 days exactly like production. Persistence cannot see an onset by construction; we catch a third of Very-Poor onsets 1–3 days ahead. We under-predict the Severe tail and say so — that is why every forecast carries a calibrated probability, not just a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A12 — for 'how do you know your attribution is right?' and 'how many people does this affect?'. We validate indicatively against TERI-ARAI 2018 for Delhi and we show the disagreement (kerbside traffic over-weighted in monsoon) instead of hiding it. Exposure is probability-weighted expected people, GPW population where sampled, exposure not mortality.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914400"/>
            <a:ext cx="1417320" cy="1417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51460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 i="0">
                <a:solidFill>
                  <a:srgbClr val="FFFFFF"/>
                </a:solidFill>
                <a:latin typeface="Calibri"/>
              </a:rPr>
              <a:t>VayuNetra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35661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6EE7B7"/>
                </a:solidFill>
                <a:latin typeface="Calibri"/>
              </a:rPr>
              <a:t>The operations layer for urban air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4160520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1D5DB"/>
                </a:solidFill>
                <a:latin typeface="Calibri"/>
              </a:rPr>
              <a:t>We don't just measure the air. We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trace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it,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predict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it, and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act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on it — live in ten Indian cities, on ₹0 infrastructure.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392" y="5349240"/>
            <a:ext cx="10488168" cy="12801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55321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Omkar Kadam  ·  Sejal Kumbhar  ·  Abhinav Prasad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605332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4A3B8"/>
                </a:solidFill>
                <a:latin typeface="Calibri"/>
              </a:rPr>
              <a:t>ET AI Hackathon 2.0 · Finale · vayunetra-aqi.vercel.app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The data exists. The layer that acts on it doesn't.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DC2626"/>
                </a:solidFill>
                <a:latin typeface="Calibri"/>
              </a:rPr>
              <a:t>1.67M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premature deaths every year in India from air pollution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7992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0284C7"/>
                </a:solidFill>
                <a:latin typeface="Calibri"/>
              </a:rPr>
              <a:t>900+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CAAQMS monitoring stations already deployed — the data exists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5864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4464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DC2626"/>
                </a:solidFill>
                <a:latin typeface="Calibri"/>
              </a:rPr>
              <a:t>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of monitored cities have ANY response protocol (CAG audit, 2024)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51960"/>
            <a:ext cx="11155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A reading turns red. Then nothing happens. 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No system tells a city administrator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who is polluting this square kilometre right now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,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what the air will be tomorrow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, and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where to send inspectors first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. Cities don't need another dashboard — they need the layer that turns a reading into an intervention.</a:t>
            </a:r>
          </a:p>
        </p:txBody>
      </p:sp>
      <p:pic>
        <p:nvPicPr>
          <p:cNvPr id="14" name="Picture 1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WHAT VAYUNETRA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One loop: trace → predict → act → protect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91640"/>
            <a:ext cx="82296" cy="2377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TRACE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Who is to blame, per ~1 km² cell — ML + SHAP evidence, abstains honestly where it lacks skill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7288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47288" y="1691640"/>
            <a:ext cx="82296" cy="237744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PREDICT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24/48/72 h PM2.5 per cell with calibrated 80% uncertainty bands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1656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91656" y="1691640"/>
            <a:ext cx="82296" cy="2377440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Ranked officer worklist — satellite evidence, cited regulations, draft notice PDF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6024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6024" y="1691640"/>
            <a:ext cx="82296" cy="2377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92056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PROTECT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2056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Advisories in 4 languages — app, Telegram, IVR calls, public displays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434840"/>
            <a:ext cx="11192256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645152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475569"/>
                </a:solidFill>
                <a:latin typeface="Calibri"/>
              </a:rPr>
              <a:t>Six AI agents on one graph — signal to cited action in </a:t>
            </a:r>
            <a:r>
              <a:rPr sz="2200" b="1" i="0">
                <a:solidFill>
                  <a:srgbClr val="059669"/>
                </a:solidFill>
                <a:latin typeface="Calibri"/>
              </a:rPr>
              <a:t>0.8–9.7 seconds, measured live</a:t>
            </a:r>
            <a:r>
              <a:rPr sz="1800" b="0" i="0">
                <a:solidFill>
                  <a:srgbClr val="475569"/>
                </a:solidFill>
                <a:latin typeface="Calibri"/>
              </a:rPr>
              <a:t>.  The spatial unit everywhere is the same ~1 km² cell, so every claim traces from raw reading to action.</a:t>
            </a:r>
          </a:p>
        </p:txBody>
      </p:sp>
      <p:pic>
        <p:nvPicPr>
          <p:cNvPr id="22" name="Picture 21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-di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6EE7B7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Delhi, right now.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971800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063240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1 · Blame map — click a cell: who's responsible, and its past year of air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85032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776472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2 · Enforcement — satellite evidence → draft notice PDF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398264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489704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3 · Advisories — Hindi · Telegram · a real IVR phone 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111496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5202936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4 · Pipeline — six agents run live, traced per 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4A3B8"/>
                </a:solidFill>
                <a:latin typeface="Calibri"/>
              </a:rPr>
              <a:t>running from this laptop — no venue wifi required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TECHNICAL RIGOUR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Every number is checked — including our failures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45920"/>
            <a:ext cx="11192256" cy="530352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645920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19" y="1645920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How it was checked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76272"/>
            <a:ext cx="1119225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76272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Attribution matches official inventories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176272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cosine 0.92 / 0.88 / 0.79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19" y="2176272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vs SAFAR-Delhi · CSTEP-Bengaluru · Urban-Emissions Mumbai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06624"/>
            <a:ext cx="11192256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06624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Attribution behaves physically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706624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2.30× traffic SHAP in rush hours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706624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IST rush vs off-peak, weather controlled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36976"/>
            <a:ext cx="1119225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236976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Forecast beats real baselines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236976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+8 / +14 / +13% at 24/48/72 h (Delhi)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19" y="3236976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208k station-hours, winter 25-26 + summer 26; monthly refit on trailing 90 d; vs persistence &amp; seasonal-naive (A11)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767328"/>
            <a:ext cx="11192256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767328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Warns before the air turns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3767328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36–38% of Very-Poor onsets, 1–3 days ahead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3767328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persistence = 0 by construction; Severe tail under-predicted — stated (A11)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297680"/>
            <a:ext cx="1119225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297680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Uncertainty is honest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297680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80% band → 78% measured · calibrated P(&gt;120/&gt;250)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4297680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conformal calibration; Brier skill +48% / +23% vs climatology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828031"/>
            <a:ext cx="11192256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828031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Model choice was earned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4828031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TFT trained on GPU — and rejected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4828031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LightGBM won held-out skill in every launch city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358383"/>
            <a:ext cx="1119225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358383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It holds together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5358383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180 backend + 6 e2e tests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5358383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CI on every push · full offline demo mode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5980175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4748B"/>
                </a:solidFill>
                <a:latin typeface="Calibri"/>
              </a:rPr>
              <a:t>All reproducible: eval/evaluate.ipynb + python -m ml.eval.benchmark (docs/BENCHMARKS.md) — failures included.</a:t>
            </a:r>
          </a:p>
        </p:txBody>
      </p:sp>
      <p:pic>
        <p:nvPicPr>
          <p:cNvPr id="37" name="Picture 36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BUSINESS IMPACT · 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Built to deploy, not to demo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6232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59669"/>
                </a:solidFill>
                <a:latin typeface="Calibri"/>
              </a:rPr>
              <a:t>₹2.56M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5973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health cost avoided by ONE waste-burn ban, in 24 hours — every figure cited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0632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27832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59669"/>
                </a:solidFill>
                <a:latin typeface="Calibri"/>
              </a:rPr>
              <a:t>₹0.88 L 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3133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of Delhi's annual health burden avertable at the −30% NCAP 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4348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599431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284C7"/>
                </a:solidFill>
                <a:latin typeface="Calibri"/>
              </a:rPr>
              <a:t>₹0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0293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infrastructure cost — free tiers end-to-end; 7 metros onboarded from config in one week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91640"/>
            <a:ext cx="5431536" cy="4069080"/>
          </a:xfrm>
          <a:prstGeom prst="roundRect">
            <a:avLst>
              <a:gd name="adj" fmla="val 8000"/>
            </a:avLst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202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RUNNING AT PRODUCTION SCALE —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9572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459736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cities live · Delhi to Lucknow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95351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16,529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3017520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~1 km² cells modeled · 10 cities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511296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647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575303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registered + satellite-detected sources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069080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5,495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133088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vulnerability-scored zones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626864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454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4690872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RAG-cited enforcement recommendations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18464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5248656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advisory languages · app / Telegram / IVR / displays</a:t>
            </a:r>
          </a:p>
        </p:txBody>
      </p:sp>
      <p:pic>
        <p:nvPicPr>
          <p:cNvPr id="27" name="Picture 26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86868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0312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3000" b="0" i="0">
                <a:solidFill>
                  <a:srgbClr val="94A3B8"/>
                </a:solidFill>
                <a:latin typeface="Calibri"/>
              </a:rPr>
              <a:t>India measures. India forecasts.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VayuNetra operates.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420624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D1D5DB"/>
                </a:solidFill>
                <a:latin typeface="Calibri"/>
              </a:rPr>
              <a:t>Traced, predicted, cited, delivered. </a:t>
            </a:r>
            <a:r>
              <a:rPr sz="2400" b="1" i="0">
                <a:solidFill>
                  <a:srgbClr val="6EE7B7"/>
                </a:solidFill>
                <a:latin typeface="Calibri"/>
              </a:rPr>
              <a:t>In seconds. In four languages. For ₹0.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5212080"/>
            <a:ext cx="10488168" cy="12801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544068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vayunetra-aqi.vercel.app</a:t>
            </a:r>
            <a:r>
              <a:rPr sz="1600" b="0" i="0">
                <a:solidFill>
                  <a:srgbClr val="D1D5DB"/>
                </a:solidFill>
                <a:latin typeface="Calibri"/>
              </a:rPr>
              <a:t>      github.com/omkarrr88/VayuNetra</a:t>
            </a:r>
            <a:r>
              <a:rPr sz="1600" b="0" i="0">
                <a:solidFill>
                  <a:srgbClr val="D1D5DB"/>
                </a:solidFill>
                <a:latin typeface="Calibri"/>
              </a:rPr>
              <a:t>      @aqivayu_bot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603504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94A3B8"/>
                </a:solidFill>
                <a:latin typeface="Calibri"/>
              </a:rPr>
              <a:t>Omkar Kadam · Sejal Kumbhar · Abhinav Prasad — thank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59669"/>
                </a:solidFill>
                <a:latin typeface="Calibri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F172A"/>
                </a:solidFill>
                <a:latin typeface="Calibri"/>
              </a:rPr>
              <a:t>For the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75569"/>
                </a:solidFill>
                <a:latin typeface="Calibri"/>
              </a:rPr>
              <a:t>A1 Architecture · A2 Six agents live · A3 Evidence dossier · A4 Citizen reach · A5 Models &amp; validation detail · A6 Honesty &amp; fairness · A7 Cost, security &amp; roadmap · A8 Ten cities · A9 Past air · A10 Positioning vs SAFAR/DSS/PRANA · A11 Early warning &amp; calibration · A12 Attribution &amp; exposure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rch-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31" y="0"/>
            <a:ext cx="10924032" cy="614476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A1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6254496"/>
            <a:ext cx="8686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Two seams — the database schema and the API contract — decouple every layer. Three people built in parallel for weeks.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peli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A2 · THE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Six agents traced per node — captured during a real Delhi spike (AQI 323): the gate escalated, enforcement regenerated the worklist, seconds end-to-end.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ossi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A3 ·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Every recommendation: real Sentinel-2 imagery of the actual site + regulatory citations retrieved from the NCAP/GRAP/CPCB corpus + draft notice PDF. Officer-in-the-loop, never auto-sent.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tiz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A4 · CITIZENS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The same advisory in English, Hindi, Kannada, Marathi — app, live Telegram bot, real IVR phone line (call in, press 1 for Delhi), public displays. Targeted by 5,495 vulnerability-scored zones.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ti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A8 · TEN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Ten cities live — Delhi, Bengaluru, Mumbai, Hyderabad, Chennai, Kolkata, Pune, Ahmedabad, Jaipur, Lucknow — ranked Swachh-Vayu style. Seven were onboarded from config in one week; every layer is city-agnostic.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A9 · PAST 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Every place carries its own history: daily PM2.5 over the CPCB colour bands, 30 days to a year, with a one-line verdict anyone can read. Delhi's real winter smog season — 400+ µg/m³ in Nov–Dec — against the monsoon.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A5 · MODELS &amp; VALIDATION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The full numbers, both baselines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00200"/>
            <a:ext cx="11155680" cy="457200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Forecast skill (24/48/72 h) — measured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6002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vs persistence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3959" y="16002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vs weekly seasonal-naive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57400"/>
            <a:ext cx="111556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Delhi · multi-season, 208k test hrs (winter 25-26 + summer 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20574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+8% / +14% / +13%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59" y="20574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+20% / +20% / +16%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514600"/>
            <a:ext cx="11155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46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Delhi · live 90-day window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25146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+12% / +12% / +10%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59" y="25146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+24% / +17% / +19%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71800"/>
            <a:ext cx="111556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9718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Bengaluru · live 90-day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9718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+18% / +53% / +52%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9718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+14% / +11% / +12%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429000"/>
            <a:ext cx="11155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4290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Mumbai · live 90-day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34290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+7% / +8% / +5%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59" y="34290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+48% / +48% / +30%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86200"/>
            <a:ext cx="111556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8862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Hyderabad · live 90-day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38862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+9% / +16% / +34%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59" y="38862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+30% / +23% / +25%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41655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Protocol: strict temporal split, rolling monthly refit on the trailing 90 days (= production), one shared support mask, baselines persistence / seasonal-naive / climatology. docs/BENCHMARKS.md · GET /metrics/benchmark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846320"/>
            <a:ext cx="11155680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Calibri"/>
              </a:rPr>
              <a:t>Attribution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— LightGBM + SHAP blended with chemical-signature priors; abstains below an out-of-sample R² gate of 0.15. Compared honestly with TERI-ARAI 2018 for Delhi (A12): seasonality agrees, we over-weight kerbside traffic in monsoon — stated, not hidden. Traffic SHAP 2.30× higher in IST rush hours with weather controlled.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Calibri"/>
              </a:rPr>
              <a:t>Uncertainty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— conformalised quantile regression: 80% band measured at 78% coverage on 208k Delhi test hours; every forecast now also carries a calibrated P(&gt;120) / P(&gt;250) (Brier skill +48% / +23% vs climatology at 24 h).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Calibri"/>
              </a:rPr>
              <a:t>Model selection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— TFT trained on GPU and rejected: LightGBM won held-out skill in every launch city; the notebook keeps the failure.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Calibri"/>
              </a:rPr>
              <a:t>Satellite detection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— labelled Earth-Engine heuristic today (NDVI drop → construction, FIRMS thermal → burning); U-Net drops into the same schema.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A6 · HONESTY &amp; FAIRNESS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Honest by construction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77393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The model abstains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5798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No ML blame without out-of-sample skill; falls back to cited chemical-signature priors and says so in the UI.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59" y="164592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47103" y="177393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Health text is LLM-free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3" y="215798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Advisories are deterministic templates in 4 languages — a language model cannot hallucinate medical advice.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15468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328269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Notices are drafts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66674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Stamped 'pending officer authorisation'; never auto-sent. Dispatching starts before/after impact measurement, corrected for city drift.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315468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3" y="328269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Nothing fabricated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3" y="366674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Impact figures return null over invented constants; &lt;2% contributors never enter the worklist; satellite evidence is real imagery of the real site.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6344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791455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 socio-economic inputs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17550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Priority = contribution × exposure × actionability × confidence. No income or land-value feature exists anywhere in the pipeline — the fairness audit publishes what drives priority.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466344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3" y="4791455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Auditable end to 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3" y="517550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Per-node agent traces + enforcement status history; every recommendation is reviewable after the fact.</a:t>
            </a:r>
          </a:p>
        </p:txBody>
      </p:sp>
      <p:pic>
        <p:nvPicPr>
          <p:cNvPr id="22" name="Picture 21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A7 · COST, SECURITY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₹0 today — a config file per city, a clear path forward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STACK · ₹0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FastAPI on Render · React + MapLibre on Vercel · Supabase Postgres (PostGIS + pgvector) · LangGraph · GitHub Actions crons. All free tier — the same two-seam architecture scales onto paid tiers with no redesign.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7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Row-level security on every table. Public reads via anon JWT; every write is service-role, server-side. Admin ops behind a key header. Full offline demo mode — no external dependency on stage.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11896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67928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67928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InMAP/PAVITRA source–receptor physics under the what-if engine · U-Net satellite detector to replace the labelled heuristic · in-language IVR voice + more languages · municipal permit-registry connectors.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52160"/>
            <a:ext cx="11155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64748B"/>
                </a:solidFill>
                <a:latin typeface="Calibri"/>
              </a:rPr>
              <a:t>Adding a city: one YAML (bbox, languages, regulatory authority) + one backfill run — 7 metros were added this way in a week.</a:t>
            </a:r>
          </a:p>
        </p:txBody>
      </p:sp>
      <p:pic>
        <p:nvPicPr>
          <p:cNvPr id="14" name="Picture 1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A10 · POSITIONING VS THE STATUS QUO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F172A"/>
                </a:solidFill>
                <a:latin typeface="Calibri"/>
              </a:rPr>
              <a:t>India can measure and forecast its air. The gap is acting on it — audited.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721608" cy="3977639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9202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0284C7"/>
                </a:solidFill>
                <a:latin typeface="Calibri"/>
              </a:rPr>
              <a:t>WHAT EXISTS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51460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475569"/>
                </a:solidFill>
                <a:latin typeface="Calibri"/>
              </a:rPr>
              <a:t>SAFAR (IITM, 4 cities, city-level bulletin) · AQEWS/DSS (WRF-Chem, 400 m grid, 29-source — CAQM/government users only) · PRANA (cities report NCAP actions &amp; spend) · NCAP Tracker (public trends) · CAAQMS/SAMEER (a reading, not a decision).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7" y="1691640"/>
            <a:ext cx="3721608" cy="3977639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9202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0284C7"/>
                </a:solidFill>
                <a:latin typeface="Calibri"/>
              </a:rPr>
              <a:t>WHAT THE AUDIT FOUND · CEEW, Oct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51460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475569"/>
                </a:solidFill>
                <a:latin typeface="Calibri"/>
              </a:rPr>
              <a:t>'Severe and above' caught 5 of 14 episodes in winter 2024-25 (1 of 15 the winter before) · PM2.5 under-predicted by −24 µg/m³ in winter · CAQM imposed GRAP III/IV on OBSERVED AQI, not forecasts, both winters · DSS 'lacks outcome monitoring and actionable short-term pathways'.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11896" y="1691640"/>
            <a:ext cx="3721608" cy="3977639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67928" y="19202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0284C7"/>
                </a:solidFill>
                <a:latin typeface="Calibri"/>
              </a:rPr>
              <a:t>WHAT VAYUNETRA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67928" y="251460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475569"/>
                </a:solidFill>
                <a:latin typeface="Calibri"/>
              </a:rPr>
              <a:t>Calibrated P(&gt; band) on every cell forecast + onset-recall reported vs persistence · live hourly attribution, not a 2016 inventory · forecast → named notice with citations → dispatch → measured outcome · what-if, ROI, NCAP fund guidance, PRANA export · public, 6 languages, IVR/Telegram/web · ₹0 on the sunk CAAQMS investment.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521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We do not claim to out-model WRF-Chem. Sources: CEEW 'How Well can Delhi Predict Air Quality?' (Ignatious &amp; Rafiuddin, 2025); Ghude et al., GMD 17 (2024); docs/POSITIONING.md</a:t>
            </a:r>
          </a:p>
        </p:txBody>
      </p:sp>
      <p:pic>
        <p:nvPicPr>
          <p:cNvPr id="14" name="Picture 1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A10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A11 · EARLY WARNING &amp; CALIBRATION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F172A"/>
                </a:solidFill>
                <a:latin typeface="Calibri"/>
              </a:rPr>
              <a:t>Does it warn before the air turns? Measured on the 2025-26 Delhi winter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45920"/>
            <a:ext cx="11155680" cy="548640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" y="1645920"/>
            <a:ext cx="877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horizon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9928" y="1645920"/>
            <a:ext cx="11521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onsets (&gt;120)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81528" y="164592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onset recall —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1768" y="1645920"/>
            <a:ext cx="188366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onset recall — persistence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04888" y="164592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alarm F1 model / persist.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25128" y="1645920"/>
            <a:ext cx="13350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P(&gt;120) Brier skill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79607" y="1645920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80% PI coverage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194560"/>
            <a:ext cx="11155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194560"/>
            <a:ext cx="877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+24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9928" y="2194560"/>
            <a:ext cx="11521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15,817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19456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36%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1768" y="2194560"/>
            <a:ext cx="188366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4888" y="219456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0.761 / 0.746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5128" y="2194560"/>
            <a:ext cx="13350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+48%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79607" y="2194560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743200"/>
            <a:ext cx="11155680" cy="5486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743200"/>
            <a:ext cx="877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+48 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9928" y="2743200"/>
            <a:ext cx="11521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18,356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81528" y="274320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38%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01768" y="2743200"/>
            <a:ext cx="188366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274320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0.731 / 0.706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2743200"/>
            <a:ext cx="13350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+44%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9607" y="2743200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0.777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291839"/>
            <a:ext cx="11155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291839"/>
            <a:ext cx="877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+72 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09928" y="3291839"/>
            <a:ext cx="11521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19,212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81528" y="3291839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38%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01768" y="3291839"/>
            <a:ext cx="188366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04888" y="3291839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0.689 / 0.695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25128" y="3291839"/>
            <a:ext cx="13350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+32%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79607" y="3291839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3977639"/>
            <a:ext cx="111556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1" i="0">
                <a:solidFill>
                  <a:srgbClr val="0F172A"/>
                </a:solidFill>
                <a:latin typeface="Calibri"/>
              </a:rPr>
              <a:t>Onset </a:t>
            </a:r>
            <a:r>
              <a:rPr sz="1350" b="0" i="0">
                <a:solidFill>
                  <a:srgbClr val="475569"/>
                </a:solidFill>
                <a:latin typeface="Calibri"/>
              </a:rPr>
              <a:t>= clean at issue time, above 120 µg/m³ (Very Poor) at t+h. 'Tomorrow = today' has onset recall 0 by construction; a reactive trigger cannot see these hours coming.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1" i="0">
                <a:solidFill>
                  <a:srgbClr val="0F172A"/>
                </a:solidFill>
                <a:latin typeface="Calibri"/>
              </a:rPr>
              <a:t>Skill vs persistence </a:t>
            </a:r>
            <a:r>
              <a:rPr sz="1350" b="0" i="0">
                <a:solidFill>
                  <a:srgbClr val="475569"/>
                </a:solidFill>
                <a:latin typeface="Calibri"/>
              </a:rPr>
              <a:t>+8% / +14% / +13% at 24/48/72 h on 208k station-hours; winter-only -4% / +8% / +7%.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1" i="0">
                <a:solidFill>
                  <a:srgbClr val="0F172A"/>
                </a:solidFill>
                <a:latin typeface="Calibri"/>
              </a:rPr>
              <a:t>Where we are weak </a:t>
            </a:r>
            <a:r>
              <a:rPr sz="1350" b="0" i="0">
                <a:solidFill>
                  <a:srgbClr val="475569"/>
                </a:solidFill>
                <a:latin typeface="Calibri"/>
              </a:rPr>
              <a:t>— the Severe tail (&gt;250): we under-predict it (as the official WRF-Chem does). That is why the product speaks in calibrated probability: P(&gt;250) Brier skill +23% at 24 h.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1" i="0">
                <a:solidFill>
                  <a:srgbClr val="0F172A"/>
                </a:solidFill>
                <a:latin typeface="Calibri"/>
              </a:rPr>
              <a:t>Every number recomputed </a:t>
            </a:r>
            <a:r>
              <a:rPr sz="1350" b="0" i="0">
                <a:solidFill>
                  <a:srgbClr val="475569"/>
                </a:solidFill>
                <a:latin typeface="Calibri"/>
              </a:rPr>
              <a:t>by python -m ml.eval.benchmark from real station data; served by GET /metrics/benchmark; shown in the console. docs/EARLY_WARNING.md · docs/BENCHMARKS.md</a:t>
            </a:r>
          </a:p>
        </p:txBody>
      </p:sp>
      <p:pic>
        <p:nvPicPr>
          <p:cNvPr id="37" name="Picture 36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A11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A12 · ATTRIBUTION VALIDATION &amp; EXPOSURE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0F172A"/>
                </a:solidFill>
                <a:latin typeface="Calibri"/>
              </a:rPr>
              <a:t>Checked against published apportionment — agreements and disagreements both shown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00200"/>
            <a:ext cx="10881360" cy="457200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Delhi PM2.5 shares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40" y="16002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VayuNetra (Aug 2026, source-only)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002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TERI-ARAI 2018 · summer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16002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TERI-ARAI 2018 · winter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57400"/>
            <a:ext cx="10881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Traffic / transport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0574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67%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574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0574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28%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514600"/>
            <a:ext cx="108813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146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Industry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25146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5146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22%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5146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30%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971800"/>
            <a:ext cx="10881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9718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Dust (soil/road/construction)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29718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20%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9718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38%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29718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429000"/>
            <a:ext cx="108813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4290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Biomass (residential + agri)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34290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0% (monsoon)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4290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34290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14%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886200"/>
            <a:ext cx="10881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8862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Regional / outside Delhi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40" y="38862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25% ('transported')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8862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74%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38862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64%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434840"/>
            <a:ext cx="5852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0F172A"/>
                </a:solidFill>
                <a:latin typeface="Calibri"/>
              </a:rPr>
              <a:t>Read honestly.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Seasonality agrees (biomass ≈ 0 in monsoon, rises with FIRMS fires in Oct–Nov); we over-weight kerbside traffic and under-weight industry/dust vs the pre-monsoon study — stations sit on arterial roads and NO₂/CO signatures are traffic-heavy. Ranking within a cell, confidence and the R² skill gate are what drive enforcement; where the gate fails we fall back to cited priors. docs/ATTRIBUTION_VALIDATION.md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0" y="4434840"/>
            <a:ext cx="5074920" cy="178308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12280" y="455371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59669"/>
                </a:solidFill>
                <a:latin typeface="Calibri"/>
              </a:rPr>
              <a:t>WHO IS IN THE FORECAST?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4937760"/>
            <a:ext cx="46634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Calibri"/>
              </a:rPr>
              <a:t>Expected people in Very Poor / Severe air at +24/48/72 h = Σ cell population × calibrated P(&gt; band). GPW v4.11 population per cell where sampled, cited city population otherwise — the card says which. Person-hours over the outlook. Exposure, not mortality. GET /exposure · docs/HEALTH_IMPACT.md</a:t>
            </a:r>
          </a:p>
        </p:txBody>
      </p:sp>
      <p:pic>
        <p:nvPicPr>
          <p:cNvPr id="38" name="Picture 37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