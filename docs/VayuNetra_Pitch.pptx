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0:00–0:20 (~45 words)</a:t>
            </a:r>
          </a:p>
          <a:p/>
          <a:p>
            <a:r>
              <a:t>"Good morning. We are team VayuNetra — Omkar, Sejal and Abhinav. India can measure its air and forecast its air. What it cannot do is ACT on it. We built the layer that acts — and it is running live, right now, in Delhi, Bengaluru and Mumbai."</a:t>
            </a:r>
          </a:p>
          <a:p/>
          <a:p>
            <a:r>
              <a:t>[Advance on 'right now' — momentum into the problem slide.]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0:20–1:10 (~115 words)</a:t>
            </a:r>
          </a:p>
          <a:p/>
          <a:p>
            <a:r>
              <a:t>"India's air crisis is not a data problem. Nine hundred monitoring stations already stream readings under the National Clean Air Programme. 1.67 million people still die early every year. Why? A 2024 CAG audit found that only 31 percent of monitored cities have ANY response protocol linked to those readings. A number goes red on a dashboard — and nothing happens. Because the dashboard cannot answer the three questions an officer actually has: WHO is polluting this square kilometre right now, what will the air be TOMORROW, and WHERE do I send my inspectors first. That missing layer is what we built."</a:t>
            </a:r>
          </a:p>
          <a:p/>
          <a:p>
            <a:r>
              <a:t>[Point at the 31% card on 'nothing happens'.]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1:10–2:10 (~130 words)</a:t>
            </a:r>
          </a:p>
          <a:p/>
          <a:p>
            <a:r>
              <a:t>"VayuNetra closes that loop in four steps, on one spatial unit: the city divided into one-square-kilometre cells. TRACE: a machine-learning model attributes the PM2.5 in every cell to traffic, construction, industry or burning — with SHAP evidence, and it ABSTAINS to cited chemical signatures where it lacks skill. It never over-claims. PREDICT: 72-hour forecasts per cell with calibrated uncertainty. ACT: a ranked worklist for officers — every item carries real Sentinel-2 satellite evidence, retrieved regulatory citations, and a draft notice PDF. PROTECT: advisories in four languages — app, Telegram, real IVR phone calls, public displays. Six agents run this end to end; the measured time from signal to cited action is under ten seconds. Abhinav will now show you — live."</a:t>
            </a:r>
          </a:p>
          <a:p/>
          <a:p>
            <a:r>
              <a:t>[Hand over to ABHINAV on 'live'.]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ABHINAV · 2:10–5:10 — LIVE DEMO, 3 minutes. App on localhost, DEMO-safe.</a:t>
            </a:r>
          </a:p>
          <a:p/>
          <a:p>
            <a:r>
              <a:t>Checkpoint script (leave this slide up only a beat, then switch to the app):</a:t>
            </a:r>
          </a:p>
          <a:p>
            <a:r>
              <a:t>1) BLAME MAP (40s): 'This is Delhi, live. Every hexagon is one square kilometre, coloured by who is to blame.' Click a red cell → Cell Story: place name, traffic share, the green SHAP box — 'the model shows its own evidence and its own R-squared.' Point at the 72-hour outlook.</a:t>
            </a:r>
          </a:p>
          <a:p>
            <a:r>
              <a:t>2) ENFORCEMENT (60s): open worklist → top card — read contribution % + residents exposed. Click Evidence dossier → real Sentinel-2 patch + citations. Click Notice PDF → scroll to the projected-impact chart. 'An officer signs this. We never auto-send.'</a:t>
            </a:r>
          </a:p>
          <a:p>
            <a:r>
              <a:t>3) ADVISORIES (40s): switch language to Hindi → channel tabs → IVR call tab. 'The same intelligence reaches people who never open dashboards — real phone calls, press 1 for Delhi.'</a:t>
            </a:r>
          </a:p>
          <a:p>
            <a:r>
              <a:t>4) PIPELINE (40s): click Run agents live → trace fills in. 'Six agents, spike gate decided, seconds end to end — you just watched it happen. Everything you just saw is auditable per node.'</a:t>
            </a:r>
          </a:p>
          <a:p/>
          <a:p>
            <a:r>
              <a:t>FALLBACK: if the app fails for any reason, this slide's checkpoints let Sejal narrate over the appendix screenshots (A2–A4) without breaking stride.</a:t>
            </a:r>
          </a:p>
          <a:p>
            <a:r>
              <a:t>Hand back to SEJAL after the pipeline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5:10–6:00 (~110 words)</a:t>
            </a:r>
          </a:p>
          <a:p/>
          <a:p>
            <a:r>
              <a:t>"Everything you just saw is measured, not asserted. Our source attribution was cross-checked against the official emission inventories — cosine similarity 0.92 for Delhi. It behaves physically: traffic's influence is 2.3 times higher in rush hours. The forecast beats the honest baseline — persistence — in all three cities. When we audited our own uncertainty bands we found them under-covering, and we fixed them with conformal calibration. And we trained a deep-learning forecaster on GPU — and rejected it, because gradient boosting won on held-out skill. We keep our failures in the repo. A hundred and sixty-nine tests run on every push."</a:t>
            </a:r>
          </a:p>
          <a:p/>
          <a:p>
            <a:r>
              <a:t>[Slow down on 'and rejected it' — that line earns trust.]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6:00–6:45 (~100 words)</a:t>
            </a:r>
          </a:p>
          <a:p/>
          <a:p>
            <a:r>
              <a:t>"And it's built to deploy, not just to demo. Every intervention is costed with cited health economics: one waste-burning ban avoids twenty-five lakh rupees of health cost in a single day. Delhi's avoidable burden is 0.88 lakh crore per year — that is the NCAP funding case, made per-city. The platform runs at production scale today: 1.3 million real measurements, 547 tracked sources, 2,600 vulnerability zones — on infrastructure that costs zero rupees, which happens to be exactly the budget of most municipal pilots. And adding a city is a config file, not a project — every layer is city-agnostic."</a:t>
            </a:r>
          </a:p>
          <a:p/>
          <a:p>
            <a:r>
              <a:t>[Numbers refreshed from the live production DB, 15 Aug 2026.]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6:45–7:15 (~65 words)</a:t>
            </a:r>
          </a:p>
          <a:p/>
          <a:p>
            <a:r>
              <a:t>"India's air stack can measure, and it can forecast. VayuNetra makes it operate — traced, predicted, cited, and delivered to the people breathing it. In seconds, in four languages, for zero rupees. Everything we showed you is live at vayunetra-aqi.vercel.app, and every claim we made is reproducible from the repository. We're Omkar, Sejal and Abhinav — and we're happy to take your questions."</a:t>
            </a:r>
          </a:p>
          <a:p/>
          <a:p>
            <a:r>
              <a:t>[All three stand for Q&amp;A. Appendix slides A1–A7 are ready for specific questions.]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Divider — do not present. Pull up A1–A7 as jury questions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 — for 'how is it built?' Two seams: schema + API contract. Six agents. One ~1 km² spatial unit everywhere. New city = one 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A2 — for 'what do the agents actually do?' Orchestrator → attribution → forecast → spike gate → enforcement → advisory (+ multi-city). Run it live from this slide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A3 — for 'would an officer trust this?' Real satellite patch, retrieved (not generated) citations, draft-only notices, before/after intervention tracking after dispatch.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 — for 'how does this reach real people?' Health text is deterministic templates — an LLM is never allowed to write medical advice. IVR works inbound and outbound.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A5 — for deep technical questions on the models. Full numbers, both baselines, failures included.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A6 — for 'can we trust it?' / fairness / liability questions. These are engineering constraints, not values statements.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A7 — for 'what does it cost?' / 'how does it scale?' / 'what's next?'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914400"/>
            <a:ext cx="1417320" cy="1417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51460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 i="0">
                <a:solidFill>
                  <a:srgbClr val="FFFFFF"/>
                </a:solidFill>
                <a:latin typeface="Calibri"/>
              </a:rPr>
              <a:t>VayuNetra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35661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6EE7B7"/>
                </a:solidFill>
                <a:latin typeface="Calibri"/>
              </a:rPr>
              <a:t>The operations layer for urban air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4160520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1D5DB"/>
                </a:solidFill>
                <a:latin typeface="Calibri"/>
              </a:rPr>
              <a:t>We don't just measure the air. We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trace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it,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predict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it, and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act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on it — live in three Indian cities, on ₹0 infrastructure.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" y="5349240"/>
            <a:ext cx="10488168" cy="12801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55321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Omkar Kadam  ·  Sejal Kumbhar  ·  Abhinav Prasad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605332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4A3B8"/>
                </a:solidFill>
                <a:latin typeface="Calibri"/>
              </a:rPr>
              <a:t>ET AI Hackathon 2.0 · Finale · vayunetra-aqi.vercel.app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The data exists. The layer that acts on it doesn't.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DC2626"/>
                </a:solidFill>
                <a:latin typeface="Calibri"/>
              </a:rPr>
              <a:t>1.67M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premature deaths every year in India from air pollution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0284C7"/>
                </a:solidFill>
                <a:latin typeface="Calibri"/>
              </a:rPr>
              <a:t>900+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CAAQMS monitoring stations already deployed — the data exists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5864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4464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DC2626"/>
                </a:solidFill>
                <a:latin typeface="Calibri"/>
              </a:rPr>
              <a:t>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of monitored cities have ANY response protocol (CAG audit, 2024)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51960"/>
            <a:ext cx="11155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A reading turns red. Then nothing happens. 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No system tells a city administrator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who is polluting this square kilometre right now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,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what the air will be tomorrow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, and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where to send inspectors first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. Cities don't need another dashboard — they need the layer that turns a reading into an intervention.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WHAT VAYUNETRA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One loop: trace → predict → act → protect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91640"/>
            <a:ext cx="82296" cy="2377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TRACE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Who is to blame, per ~1 km² cell — ML + SHAP evidence, abstains honestly where it lacks skill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7288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47288" y="1691640"/>
            <a:ext cx="82296" cy="237744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PREDICT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24/48/72 h PM2.5 per cell with calibrated 80% uncertainty bands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1656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91656" y="1691640"/>
            <a:ext cx="82296" cy="2377440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Ranked officer worklist — satellite evidence, cited regulations, draft notice PDF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6024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6024" y="1691640"/>
            <a:ext cx="82296" cy="2377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92056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PROTECT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2056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Advisories in 4 languages — app, Telegram, IVR calls, public displays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434840"/>
            <a:ext cx="11192256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645152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475569"/>
                </a:solidFill>
                <a:latin typeface="Calibri"/>
              </a:rPr>
              <a:t>Six AI agents on one graph — signal to cited action in </a:t>
            </a:r>
            <a:r>
              <a:rPr sz="2200" b="1" i="0">
                <a:solidFill>
                  <a:srgbClr val="059669"/>
                </a:solidFill>
                <a:latin typeface="Calibri"/>
              </a:rPr>
              <a:t>0.8–9.7 seconds, measured live</a:t>
            </a:r>
            <a:r>
              <a:rPr sz="1800" b="0" i="0">
                <a:solidFill>
                  <a:srgbClr val="475569"/>
                </a:solidFill>
                <a:latin typeface="Calibri"/>
              </a:rPr>
              <a:t>.  The spatial unit everywhere is the same ~1 km² cell, so every claim traces from raw reading to action.</a:t>
            </a:r>
          </a:p>
        </p:txBody>
      </p:sp>
      <p:pic>
        <p:nvPicPr>
          <p:cNvPr id="22" name="Picture 21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-di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6EE7B7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Delhi, right now.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971800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063240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1 · Blame map — click a cell, see who's responsible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85032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776472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2 · Enforcement — satellite evidence → draft notice PDF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398264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489704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3 · Advisories — Hindi · Telegram · a real IVR phone 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111496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202936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4 · Pipeline — six agents run live, traced per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4A3B8"/>
                </a:solidFill>
                <a:latin typeface="Calibri"/>
              </a:rPr>
              <a:t>running from this laptop — no venue wifi required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TECHNICAL RIGOUR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Every number is checked — including our failures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45920"/>
            <a:ext cx="11192256" cy="649224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3611879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645920"/>
            <a:ext cx="32461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19" y="1645920"/>
            <a:ext cx="3236976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How it was checked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95144"/>
            <a:ext cx="11192256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95144"/>
            <a:ext cx="3611879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Attribution matches official inventories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295144"/>
            <a:ext cx="32461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F172A"/>
                </a:solidFill>
                <a:latin typeface="Calibri"/>
              </a:rPr>
              <a:t>cosine 0.92 / 0.88 / 0.79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19" y="2295144"/>
            <a:ext cx="3236976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vs SAFAR-Delhi · CSTEP-Bengaluru · Urban-Emissions Mumbai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944368"/>
            <a:ext cx="11192256" cy="649224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944368"/>
            <a:ext cx="3611879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Attribution behaves physically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944368"/>
            <a:ext cx="32461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F172A"/>
                </a:solidFill>
                <a:latin typeface="Calibri"/>
              </a:rPr>
              <a:t>2.30× traffic SHAP in rush hours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944368"/>
            <a:ext cx="3236976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IST rush vs off-peak, weather controlled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93591"/>
            <a:ext cx="11192256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593591"/>
            <a:ext cx="3611879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Forecast beats real baselines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593591"/>
            <a:ext cx="32461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F172A"/>
                </a:solidFill>
                <a:latin typeface="Calibri"/>
              </a:rPr>
              <a:t>+4–8% Delhi · +9–30% B'luru / Mumbai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9" y="3593591"/>
            <a:ext cx="3236976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walk-forward backtests vs persistence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242816"/>
            <a:ext cx="11192256" cy="649224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242816"/>
            <a:ext cx="3611879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Uncertainty is honest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4242816"/>
            <a:ext cx="32461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F172A"/>
                </a:solidFill>
                <a:latin typeface="Calibri"/>
              </a:rPr>
              <a:t>48–63% raw → 75–80% coverage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4242816"/>
            <a:ext cx="3236976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audited, then fixed with conformal calibration (CQR)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892040"/>
            <a:ext cx="11192256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892040"/>
            <a:ext cx="3611879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Model choice was earned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892040"/>
            <a:ext cx="32461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F172A"/>
                </a:solidFill>
                <a:latin typeface="Calibri"/>
              </a:rPr>
              <a:t>TFT trained on GPU — and rejected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4892040"/>
            <a:ext cx="3236976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LightGBM won held-out skill in all 3 cities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541264"/>
            <a:ext cx="11192256" cy="649224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541264"/>
            <a:ext cx="3611879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It holds together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541264"/>
            <a:ext cx="32461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F172A"/>
                </a:solidFill>
                <a:latin typeface="Calibri"/>
              </a:rPr>
              <a:t>169 backend + 6 e2e tests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5541264"/>
            <a:ext cx="3236976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CI on every push · full offline demo mode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281927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4748B"/>
                </a:solidFill>
                <a:latin typeface="Calibri"/>
              </a:rPr>
              <a:t>All reproducible from eval/evaluate.ipynb in the repository — failures included.</a:t>
            </a:r>
          </a:p>
        </p:txBody>
      </p:sp>
      <p:pic>
        <p:nvPicPr>
          <p:cNvPr id="33" name="Picture 32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BUSINESS IMPACT ·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Built to deploy, not to demo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59669"/>
                </a:solidFill>
                <a:latin typeface="Calibri"/>
              </a:rPr>
              <a:t>₹2.56M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5973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health cost avoided by ONE waste-burn ban, in 24 hours — every figure cited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0632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27832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59669"/>
                </a:solidFill>
                <a:latin typeface="Calibri"/>
              </a:rPr>
              <a:t>₹0.88 L 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3133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of Delhi's annual health burden avertable at the −30% NCAP 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4348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599431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284C7"/>
                </a:solidFill>
                <a:latin typeface="Calibri"/>
              </a:rPr>
              <a:t>₹0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0293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infrastructure cost — free tiers end-to-end; a new city is one YAML config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91640"/>
            <a:ext cx="5431536" cy="4069080"/>
          </a:xfrm>
          <a:prstGeom prst="roundRect">
            <a:avLst>
              <a:gd name="adj" fmla="val 8000"/>
            </a:avLst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202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RUNNING AT PRODUCTION SCALE —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9572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1.33M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45973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real measurements ingested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95351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6,394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3017520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~1 km² cells modeled · 3 cities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511296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547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575303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registered + satellite-detected sources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069080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2,624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133088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vulnerability-scored zones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626864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380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69087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RAG-cited enforcement recommendations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18464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524865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advisory languages · app / Telegram / IVR / displays</a:t>
            </a:r>
          </a:p>
        </p:txBody>
      </p:sp>
      <p:pic>
        <p:nvPicPr>
          <p:cNvPr id="27" name="Picture 26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86868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0312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3000" b="0" i="0">
                <a:solidFill>
                  <a:srgbClr val="94A3B8"/>
                </a:solidFill>
                <a:latin typeface="Calibri"/>
              </a:rPr>
              <a:t>India measures. India forecasts.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VayuNetra operates.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420624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D1D5DB"/>
                </a:solidFill>
                <a:latin typeface="Calibri"/>
              </a:rPr>
              <a:t>Traced, predicted, cited, delivered. </a:t>
            </a:r>
            <a:r>
              <a:rPr sz="2400" b="1" i="0">
                <a:solidFill>
                  <a:srgbClr val="6EE7B7"/>
                </a:solidFill>
                <a:latin typeface="Calibri"/>
              </a:rPr>
              <a:t>In seconds. In four languages. For ₹0.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5212080"/>
            <a:ext cx="10488168" cy="12801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544068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vayunetra-aqi.vercel.app</a:t>
            </a:r>
            <a:r>
              <a:rPr sz="1600" b="0" i="0">
                <a:solidFill>
                  <a:srgbClr val="D1D5DB"/>
                </a:solidFill>
                <a:latin typeface="Calibri"/>
              </a:rPr>
              <a:t>      github.com/omkarrr88/VayuNetra</a:t>
            </a:r>
            <a:r>
              <a:rPr sz="1600" b="0" i="0">
                <a:solidFill>
                  <a:srgbClr val="D1D5DB"/>
                </a:solidFill>
                <a:latin typeface="Calibri"/>
              </a:rPr>
              <a:t>      @aqivayu_bot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603504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94A3B8"/>
                </a:solidFill>
                <a:latin typeface="Calibri"/>
              </a:rPr>
              <a:t>Omkar Kadam · Sejal Kumbhar · Abhinav Prasad — 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59669"/>
                </a:solidFill>
                <a:latin typeface="Calibri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F172A"/>
                </a:solidFill>
                <a:latin typeface="Calibri"/>
              </a:rPr>
              <a:t>For the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75569"/>
                </a:solidFill>
                <a:latin typeface="Calibri"/>
              </a:rPr>
              <a:t>A1 Architecture · A2 Six agents live · A3 Evidence dossier · A4 Citizen reach · A5 Models &amp; validation detail · A6 Honesty &amp; fairness · A7 Cost, security &amp; roadmap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rch-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31" y="0"/>
            <a:ext cx="10924032" cy="614476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A1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6254496"/>
            <a:ext cx="8686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Two seams — the database schema and the API contract — decouple every layer. Three people built in parallel for weeks.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peli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A2 · THE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Six agents traced per node — captured during a real Delhi spike (AQI 323): the gate escalated, enforcement regenerated the worklist, seconds end-to-end.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ossi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A3 ·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Every recommendation: real Sentinel-2 imagery of the actual site + regulatory citations retrieved from the NCAP/GRAP/CPCB corpus + draft notice PDF. Officer-in-the-loop, never auto-sent.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tiz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A4 · CITIZENS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The same advisory in English, Hindi, Kannada, Marathi — app, live Telegram bot, real IVR phone line (call in, press 1 for Delhi), public displays. Targeted by 2,624 vulnerability-scored zones.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A5 · MODELS &amp; VALIDATION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full numbers, both baselines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0200"/>
            <a:ext cx="11155680" cy="566928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Forecast skill (24/48/72 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0" y="1600200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vs persistence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19" y="1600200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vs climatology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67128"/>
            <a:ext cx="11155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67128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475569"/>
                </a:solidFill>
                <a:latin typeface="Calibri"/>
              </a:rPr>
              <a:t>Delhi (n≈27k)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2167128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+4% / +4% / +8%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19" y="2167128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+31% / +18% / +16%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34056"/>
            <a:ext cx="1115568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34056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475569"/>
                </a:solidFill>
                <a:latin typeface="Calibri"/>
              </a:rPr>
              <a:t>Bengaluru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734056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+15% / +17% / +9%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734056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+14% / +5% / −7%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00984"/>
            <a:ext cx="11155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00984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475569"/>
                </a:solidFill>
                <a:latin typeface="Calibri"/>
              </a:rPr>
              <a:t>Mumbai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3300984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+15% / +18% / +30%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9" y="3300984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+3% / +3% / +4%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114800"/>
            <a:ext cx="111556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Attribution </a:t>
            </a:r>
            <a:r>
              <a:rPr sz="1450" b="0" i="0">
                <a:solidFill>
                  <a:srgbClr val="475569"/>
                </a:solidFill>
                <a:latin typeface="Calibri"/>
              </a:rPr>
              <a:t>— LightGBM + SHAP blended with chemical-signature priors; abstains below an out-of-sample R² gate of 0.15. Cross-checked vs inventories (cosine 0.92/0.88/0.79); traffic SHAP 2.30× higher in IST rush hours with weather controlled.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Uncertainty </a:t>
            </a:r>
            <a:r>
              <a:rPr sz="1450" b="0" i="0">
                <a:solidFill>
                  <a:srgbClr val="475569"/>
                </a:solidFill>
                <a:latin typeface="Calibri"/>
              </a:rPr>
              <a:t>— raw intervals under-covered (48–63% vs nominal 80%); fixed with conformalised quantile regression → 75–80% measured coverage.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Model selection </a:t>
            </a:r>
            <a:r>
              <a:rPr sz="1450" b="0" i="0">
                <a:solidFill>
                  <a:srgbClr val="475569"/>
                </a:solidFill>
                <a:latin typeface="Calibri"/>
              </a:rPr>
              <a:t>— Temporal Fusion Transformer trained on GPU and rejected: LightGBM won held-out skill in all three cities. The notebook keeps the failure.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Satellite detection </a:t>
            </a:r>
            <a:r>
              <a:rPr sz="1450" b="0" i="0">
                <a:solidFill>
                  <a:srgbClr val="475569"/>
                </a:solidFill>
                <a:latin typeface="Calibri"/>
              </a:rPr>
              <a:t>— currently a labelled Earth-Engine heuristic (NDVI drop → construction, FIRMS thermal → burning); the U-Net CV model is in training and drops into the same schema.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A6 · HONESTY &amp; FAIRNESS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Honest by construction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77393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The model abstains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5798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No ML blame without out-of-sample skill; falls back to cited chemical-signature priors and says so in the UI.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59" y="164592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47103" y="177393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Health text is LLM-free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3" y="215798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Advisories are deterministic templates in 4 languages — a language model cannot hallucinate medical advice.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15468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328269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Notices are drafts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66674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Stamped 'pending officer authorisation'; never auto-sent. Dispatching starts before/after impact measurement, corrected for city drift.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315468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3" y="328269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Nothing fabricated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3" y="366674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Impact figures return null over invented constants; &lt;2% contributors never enter the worklist; satellite evidence is real imagery of the real site.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6344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791455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 socio-economic inputs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17550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Priority = contribution × exposure × actionability × confidence. No income or land-value feature exists anywhere in the pipeline — the fairness audit publishes what drives priority.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466344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3" y="4791455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Auditable end to 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3" y="517550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Per-node agent traces + enforcement status history; every recommendation is reviewable after the fact.</a:t>
            </a:r>
          </a:p>
        </p:txBody>
      </p:sp>
      <p:pic>
        <p:nvPicPr>
          <p:cNvPr id="22" name="Picture 21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A7 · COST, SECURITY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₹0 today — a config file per city, a clear path forward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STACK · ₹0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FastAPI on Render · React + MapLibre on Vercel · Supabase Postgres (PostGIS + pgvector) · LangGraph · GitHub Actions crons. All free tier — the same two-seam architecture scales onto paid tiers with no redesign.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7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Row-level security on every table. Public reads via anon JWT; every write is service-role, server-side. Admin ops behind a key header. Full offline demo mode — no external dependency on stage.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11896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67928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67928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InMAP/PAVITRA source–receptor physics under the what-if engine · U-Net satellite detector to replace the labelled heuristic · in-language IVR voice + more languages · municipal permit-registry connectors.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52160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64748B"/>
                </a:solidFill>
                <a:latin typeface="Calibri"/>
              </a:rPr>
              <a:t>Adding a city: one YAML (bbox, languages) + one ingestion run — every layer is city-agnostic.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