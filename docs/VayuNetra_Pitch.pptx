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OMKAR · 0:00–0:20 (~45 words)</a:t>
            </a:r>
          </a:p>
          <a:p/>
          <a:p>
            <a:r>
              <a:t>"Good morning. We are team VayuNetra — Omkar, Sejal and Abhinav. India can measure its air and forecast its air. What it cannot do is ACT on it. We built the layer that acts — and it is running live, right now, in ten Indian cities — including Hyderabad."</a:t>
            </a:r>
          </a:p>
          <a:p/>
          <a:p>
            <a:r>
              <a:t>[Advance on 'right now' — momentum into the problem slide.]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OMKAR · 0:20–1:10 (~115 words)</a:t>
            </a:r>
          </a:p>
          <a:p/>
          <a:p>
            <a:r>
              <a:t>"India's air crisis is not a data problem. Nine hundred monitoring stations already stream readings under the National Clean Air Programme. 1.67 million people still die early every year. Why? A 2024 CAG audit found that only 31 percent of monitored cities have ANY response protocol linked to those readings. A number goes red on a dashboard — and nothing happens. Because the dashboard cannot answer the three questions an officer actually has: WHO is polluting this square kilometre right now, what will the air be TOMORROW, and WHERE do I send my inspectors first. That missing layer is what we built."</a:t>
            </a:r>
          </a:p>
          <a:p/>
          <a:p>
            <a:r>
              <a:t>[Point at the 31% card on 'nothing happens'.]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OMKAR · 1:10–2:10 (~130 words)</a:t>
            </a:r>
          </a:p>
          <a:p/>
          <a:p>
            <a:r>
              <a:t>"VayuNetra closes that loop in four steps, on one spatial unit: the city divided into one-square-kilometre cells. TRACE: a machine-learning model attributes the PM2.5 in every cell to traffic, construction, industry or burning — with SHAP evidence, and it ABSTAINS to cited chemical signatures where it lacks skill. It never over-claims. PREDICT: 72-hour forecasts per cell with calibrated uncertainty — and every place carries its own past: a year of daily air, so you can see whether it is getting better or worse. ACT: a ranked worklist for officers — every item carries real Sentinel-2 satellite evidence, retrieved regulatory citations, and a draft notice PDF. PROTECT: advisories in four languages — app, Telegram, real IVR phone calls, public displays. Six agents run this end to end; the measured time from signal to cited action is under ten seconds. Abhinav will now show you — live."</a:t>
            </a:r>
          </a:p>
          <a:p/>
          <a:p>
            <a:r>
              <a:t>[Hand over to ABHINAV on 'live'.]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ABHINAV · 2:10–5:10 — LIVE DEMO, 3 minutes. App on localhost, DEMO-safe.</a:t>
            </a:r>
          </a:p>
          <a:p/>
          <a:p>
            <a:r>
              <a:t>Checkpoint script (leave this slide up only a beat, then switch to the app):</a:t>
            </a:r>
          </a:p>
          <a:p>
            <a:r>
              <a:t>1) BLAME MAP (45s): 'This is Delhi, live. Every hexagon is one square kilometre, coloured by who is to blame.' Click a red cell → Cell Story: place name, traffic share, the green SHAP box — 'the model shows its own evidence and its own R-squared.' Scroll to PAST AIR: 'and here is this place's own history — worse than a month ago, in plain words.' Point at the 72-hour outlook.</a:t>
            </a:r>
          </a:p>
          <a:p>
            <a:r>
              <a:t>2) ENFORCEMENT (60s): open worklist → top card — read contribution % + residents exposed. Click Evidence dossier → real Sentinel-2 patch + citations. Click Notice PDF → scroll to the projected-impact chart. 'An officer signs this. We never auto-send.'</a:t>
            </a:r>
          </a:p>
          <a:p>
            <a:r>
              <a:t>3) ADVISORIES (40s): switch language to Hindi → channel tabs → IVR call tab. 'The same intelligence reaches people who never open dashboards — real phone calls, press 1 for Delhi.'</a:t>
            </a:r>
          </a:p>
          <a:p>
            <a:r>
              <a:t>4) PIPELINE (40s): click Run agents live → trace fills in. 'Six agents, spike gate decided, seconds end to end — you just watched it happen. Everything you just saw is auditable per node.'</a:t>
            </a:r>
          </a:p>
          <a:p/>
          <a:p>
            <a:r>
              <a:t>FALLBACK: if the app fails for any reason, this slide's checkpoints let Sejal narrate over the appendix screenshots (A2–A4) without breaking stride.</a:t>
            </a:r>
          </a:p>
          <a:p>
            <a:r>
              <a:t>Hand back to SEJAL after the pipeline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SEJAL · 5:10–6:00 (~110 words)</a:t>
            </a:r>
          </a:p>
          <a:p/>
          <a:p>
            <a:r>
              <a:t>"Everything you just saw is measured, not asserted. Our source attribution was cross-checked against the official emission inventories — cosine similarity 0.92 for Delhi. It behaves physically: traffic's influence is 2.3 times higher in rush hours. The forecast beats the honest baseline — persistence — in every launch city. When we audited our own uncertainty bands we found them under-covering, and we fixed them with conformal calibration. And we trained a deep-learning forecaster on GPU — and rejected it, because gradient boosting won on held-out skill. We keep our failures in the repo. Nearly two hundred tests run on every push."</a:t>
            </a:r>
          </a:p>
          <a:p/>
          <a:p>
            <a:r>
              <a:t>[Slow down on 'and rejected it' — that line earns trust.]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SEJAL · 6:00–6:45 (~100 words)</a:t>
            </a:r>
          </a:p>
          <a:p/>
          <a:p>
            <a:r>
              <a:t>"And it's built to deploy, not just to demo. Every intervention is costed with cited health economics: one waste-burning ban avoids twenty-five lakh rupees of health cost in a single day. Delhi's avoidable burden is 0.88 lakh crore per year — that is the NCAP funding case, made per-city. The platform runs at production scale today: ten cities, over sixteen thousand modeled cells, 647 tracked sources, five and a half thousand vulnerability zones — on infrastructure that costs zero rupees, which happens to be exactly the budget of most municipal pilots. And adding a city is a config file, not a project — we onboarded seven metros, including Hyderabad, from config in one week."</a:t>
            </a:r>
          </a:p>
          <a:p/>
          <a:p>
            <a:r>
              <a:t>[Numbers refreshed from the live production DB, 15 Aug 2026.]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SEJAL · 6:45–7:15 (~65 words)</a:t>
            </a:r>
          </a:p>
          <a:p/>
          <a:p>
            <a:r>
              <a:t>"India's air stack can measure, and it can forecast. VayuNetra makes it operate — traced, predicted, cited, and delivered to the people breathing it. In seconds, in four languages, for zero rupees. Everything we showed you is live at vayunetra-aqi.vercel.app, and every claim we made is reproducible from the repository. We're Omkar, Sejal and Abhinav — and we're happy to take your questions."</a:t>
            </a:r>
          </a:p>
          <a:p/>
          <a:p>
            <a:r>
              <a:t>[All three stand for Q&amp;A. Appendix slides A1–A12 are ready for specific questions.]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Divider — do not present. Pull up A1–A12 as jury questions demand.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A1 — for 'how is it built?' Two seams: schema + API contract. Six agents. One ~1 km² spatial unit everywhere. New city = one YAML.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A2 — for 'what do the agents actually do?' Orchestrator → attribution → forecast → spike gate → enforcement → advisory (+ multi-city). Run it live from this slide if asked.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A3 — for 'would an officer trust this?' Real satellite patch, retrieved (not generated) citations, draft-only notices, before/after intervention tracking after dispatch.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A4 — for 'how does this reach real people?' Health text is deterministic templates — an LLM is never allowed to write medical advice. IVR works inbound and outbound.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A8 — for 'does it scale?' Show this: 10 live cities, ranked. Hyderabad (this room) added from a YAML + one backfill. Data: 35-day OpenAQ + ERA5 history per city; models trained per city; NCAP-cited enforcement outside NCR.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A9 — for 'can citizens/officers see trends?' Real station readings aggregated per day (SQL); per-cell or per-city; verdict compares the latest week with the week a month earlier; cells without a long station record honestly show the nearest monitored cell and say how far. Works offline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A5 — for deep technical questions on the models. Full numbers, both baselines, failures included.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A6 — for 'can we trust it?' / fairness / liability questions. These are engineering constraints, not values statements.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A7 — for 'what does it cost?' / 'how does it scale?' / 'what's next?'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A10 — for 'India already has SAFAR / the DSS / PRANA — what do you add?' Answer with the CEEW audit, not opinion: 5 of 14 severe episodes caught last winter, GRAP III/IV triggered on OBSERVED AQI, DSS is government-only, no outcome monitoring. We built for exactly those four gaps and we feed PRANA rather than compete with it. We do NOT claim to out-model WRF-Chem.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A11 — for 'how good is the forecast, really?' / 'can it warn before a spike?' Real CPCB data, 39 Delhi station cells, the whole 2025-26 winter as test, model retrained monthly on the trailing 90 days exactly like production. Persistence cannot see an onset by construction; alarming on the calibrated probability we catch about half of Very-Poor onsets 1–3 days ahead. We under-predict the Severe tail and say so — that is why every forecast carries a calibrated probability, not just a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A12 — for 'how do you know your attribution is right?' and 'how many people does this affect?'. We validate indicatively against TERI-ARAI 2018 for Delhi and we show the disagreement (kerbside traffic over-weighted in monsoon) instead of hiding it. Exposure is probability-weighted expected people, GPW population where sampled, exposure not mortality.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con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914400"/>
            <a:ext cx="1417320" cy="1417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2514600"/>
            <a:ext cx="105156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600" b="1" i="0">
                <a:solidFill>
                  <a:srgbClr val="FFFFFF"/>
                </a:solidFill>
                <a:latin typeface="Calibri"/>
              </a:rPr>
              <a:t>VayuNetra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" y="356616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6EE7B7"/>
                </a:solidFill>
                <a:latin typeface="Calibri"/>
              </a:rPr>
              <a:t>The operations layer for urban air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4160520"/>
            <a:ext cx="10424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D1D5DB"/>
                </a:solidFill>
                <a:latin typeface="Calibri"/>
              </a:rPr>
              <a:t>We don't just measure the air. We </a:t>
            </a:r>
            <a:r>
              <a:rPr sz="2200" b="1" i="0">
                <a:solidFill>
                  <a:srgbClr val="FFFFFF"/>
                </a:solidFill>
                <a:latin typeface="Calibri"/>
              </a:rPr>
              <a:t>trace</a:t>
            </a:r>
            <a:r>
              <a:rPr sz="2200" b="0" i="0">
                <a:solidFill>
                  <a:srgbClr val="D1D5DB"/>
                </a:solidFill>
                <a:latin typeface="Calibri"/>
              </a:rPr>
              <a:t> it, </a:t>
            </a:r>
            <a:r>
              <a:rPr sz="2200" b="1" i="0">
                <a:solidFill>
                  <a:srgbClr val="FFFFFF"/>
                </a:solidFill>
                <a:latin typeface="Calibri"/>
              </a:rPr>
              <a:t>predict</a:t>
            </a:r>
            <a:r>
              <a:rPr sz="2200" b="0" i="0">
                <a:solidFill>
                  <a:srgbClr val="D1D5DB"/>
                </a:solidFill>
                <a:latin typeface="Calibri"/>
              </a:rPr>
              <a:t> it, and </a:t>
            </a:r>
            <a:r>
              <a:rPr sz="2200" b="1" i="0">
                <a:solidFill>
                  <a:srgbClr val="FFFFFF"/>
                </a:solidFill>
                <a:latin typeface="Calibri"/>
              </a:rPr>
              <a:t>act</a:t>
            </a:r>
            <a:r>
              <a:rPr sz="2200" b="0" i="0">
                <a:solidFill>
                  <a:srgbClr val="D1D5DB"/>
                </a:solidFill>
                <a:latin typeface="Calibri"/>
              </a:rPr>
              <a:t> on it — live in ten Indian cities, on ₹0 infrastructure.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50392" y="5349240"/>
            <a:ext cx="10488168" cy="12801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5532120"/>
            <a:ext cx="10332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Calibri"/>
              </a:rPr>
              <a:t>Omkar Kadam  ·  Sejal Kumbhar  ·  Abhinav Prasad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6053328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94A3B8"/>
                </a:solidFill>
                <a:latin typeface="Calibri"/>
              </a:rPr>
              <a:t>ET AI Hackathon 2.0 · Finale · vayunetra-aqi.vercel.app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59669"/>
                </a:solidFill>
                <a:latin typeface="Calibr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247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F172A"/>
                </a:solidFill>
                <a:latin typeface="Calibri"/>
              </a:rPr>
              <a:t>The data exists. The layer that acts on it doesn't.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3639312" cy="21488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56232"/>
            <a:ext cx="3182112" cy="10744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DC2626"/>
                </a:solidFill>
                <a:latin typeface="Calibri"/>
              </a:rPr>
              <a:t>1.67M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12136"/>
            <a:ext cx="3182112" cy="1127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0" i="0">
                <a:solidFill>
                  <a:srgbClr val="475569"/>
                </a:solidFill>
                <a:latin typeface="Calibri"/>
              </a:rPr>
              <a:t>premature deaths every year in India from air pollution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79392" y="1691640"/>
            <a:ext cx="3639312" cy="21488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07992" y="1856232"/>
            <a:ext cx="3182112" cy="10744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0284C7"/>
                </a:solidFill>
                <a:latin typeface="Calibri"/>
              </a:rPr>
              <a:t>900+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07992" y="2612136"/>
            <a:ext cx="3182112" cy="1127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0" i="0">
                <a:solidFill>
                  <a:srgbClr val="475569"/>
                </a:solidFill>
                <a:latin typeface="Calibri"/>
              </a:rPr>
              <a:t>CAAQMS monitoring stations already deployed — the data exists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55864" y="1691640"/>
            <a:ext cx="3639312" cy="21488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84464" y="1856232"/>
            <a:ext cx="3182112" cy="10744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DC2626"/>
                </a:solidFill>
                <a:latin typeface="Calibri"/>
              </a:rPr>
              <a:t>31%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84464" y="2612136"/>
            <a:ext cx="3182112" cy="1127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0" i="0">
                <a:solidFill>
                  <a:srgbClr val="475569"/>
                </a:solidFill>
                <a:latin typeface="Calibri"/>
              </a:rPr>
              <a:t>of monitored cities have ANY response protocol (CAG audit, 2024)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251960"/>
            <a:ext cx="111556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0F172A"/>
                </a:solidFill>
                <a:latin typeface="Calibri"/>
              </a:rPr>
              <a:t>A reading turns red. Then nothing happens. </a:t>
            </a:r>
            <a:r>
              <a:rPr sz="2000" b="0" i="0">
                <a:solidFill>
                  <a:srgbClr val="475569"/>
                </a:solidFill>
                <a:latin typeface="Calibri"/>
              </a:rPr>
              <a:t>No system tells a city administrator </a:t>
            </a:r>
            <a:r>
              <a:rPr sz="2000" b="1" i="0">
                <a:solidFill>
                  <a:srgbClr val="0F172A"/>
                </a:solidFill>
                <a:latin typeface="Calibri"/>
              </a:rPr>
              <a:t>who is polluting this square kilometre right now</a:t>
            </a:r>
            <a:r>
              <a:rPr sz="2000" b="0" i="0">
                <a:solidFill>
                  <a:srgbClr val="475569"/>
                </a:solidFill>
                <a:latin typeface="Calibri"/>
              </a:rPr>
              <a:t>, </a:t>
            </a:r>
            <a:r>
              <a:rPr sz="2000" b="1" i="0">
                <a:solidFill>
                  <a:srgbClr val="0F172A"/>
                </a:solidFill>
                <a:latin typeface="Calibri"/>
              </a:rPr>
              <a:t>what the air will be tomorrow</a:t>
            </a:r>
            <a:r>
              <a:rPr sz="2000" b="0" i="0">
                <a:solidFill>
                  <a:srgbClr val="475569"/>
                </a:solidFill>
                <a:latin typeface="Calibri"/>
              </a:rPr>
              <a:t>, and </a:t>
            </a:r>
            <a:r>
              <a:rPr sz="2000" b="1" i="0">
                <a:solidFill>
                  <a:srgbClr val="0F172A"/>
                </a:solidFill>
                <a:latin typeface="Calibri"/>
              </a:rPr>
              <a:t>where to send inspectors first</a:t>
            </a:r>
            <a:r>
              <a:rPr sz="2000" b="0" i="0">
                <a:solidFill>
                  <a:srgbClr val="475569"/>
                </a:solidFill>
                <a:latin typeface="Calibri"/>
              </a:rPr>
              <a:t>. Cities don't need another dashboard — they need the layer that turns a reading into an intervention.</a:t>
            </a:r>
          </a:p>
        </p:txBody>
      </p:sp>
      <p:pic>
        <p:nvPicPr>
          <p:cNvPr id="14" name="Picture 13" descr="icon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55664"/>
            <a:ext cx="256032" cy="2560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59536" y="6483096"/>
            <a:ext cx="8229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VayuNetra · ET AI Hackathon 2.0 Finale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64240" y="6483096"/>
            <a:ext cx="640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59669"/>
                </a:solidFill>
                <a:latin typeface="Calibri"/>
              </a:rPr>
              <a:t>WHAT VAYUNETRA DOES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247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F172A"/>
                </a:solidFill>
                <a:latin typeface="Calibri"/>
              </a:rPr>
              <a:t>One loop: trace → predict → act → protect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2761488" cy="23774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691640"/>
            <a:ext cx="82296" cy="237744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" y="1901952"/>
            <a:ext cx="230428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0F172A"/>
                </a:solidFill>
                <a:latin typeface="Calibri"/>
              </a:rPr>
              <a:t>TRACE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2377440"/>
            <a:ext cx="2286000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475569"/>
                </a:solidFill>
                <a:latin typeface="Calibri"/>
              </a:rPr>
              <a:t>Who is to blame, per ~1 km² cell — ML + SHAP evidence, abstains honestly where it lacks skill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47288" y="1691640"/>
            <a:ext cx="2761488" cy="23774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47288" y="1691640"/>
            <a:ext cx="82296" cy="237744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03320" y="1901952"/>
            <a:ext cx="230428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0F172A"/>
                </a:solidFill>
                <a:latin typeface="Calibri"/>
              </a:rPr>
              <a:t>PREDICT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3320" y="2377440"/>
            <a:ext cx="2286000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475569"/>
                </a:solidFill>
                <a:latin typeface="Calibri"/>
              </a:rPr>
              <a:t>24/48/72 h PM2.5 per cell with calibrated 80% uncertainty bands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91656" y="1691640"/>
            <a:ext cx="2761488" cy="23774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91656" y="1691640"/>
            <a:ext cx="82296" cy="2377440"/>
          </a:xfrm>
          <a:prstGeom prst="rect">
            <a:avLst/>
          </a:prstGeom>
          <a:solidFill>
            <a:srgbClr val="933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47688" y="1901952"/>
            <a:ext cx="230428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0F172A"/>
                </a:solidFill>
                <a:latin typeface="Calibri"/>
              </a:rPr>
              <a:t>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7688" y="2377440"/>
            <a:ext cx="2286000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475569"/>
                </a:solidFill>
                <a:latin typeface="Calibri"/>
              </a:rPr>
              <a:t>Ranked officer worklist — satellite evidence, cited regulations, draft notice PDF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6024" y="1691640"/>
            <a:ext cx="2761488" cy="23774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6024" y="1691640"/>
            <a:ext cx="82296" cy="237744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92056" y="1901952"/>
            <a:ext cx="230428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0F172A"/>
                </a:solidFill>
                <a:latin typeface="Calibri"/>
              </a:rPr>
              <a:t>PROTECT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92056" y="2377440"/>
            <a:ext cx="2286000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475569"/>
                </a:solidFill>
                <a:latin typeface="Calibri"/>
              </a:rPr>
              <a:t>Advisories in 4 languages — app, Telegram, IVR calls, public displays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434840"/>
            <a:ext cx="11192256" cy="123444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9525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4645152"/>
            <a:ext cx="106070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475569"/>
                </a:solidFill>
                <a:latin typeface="Calibri"/>
              </a:rPr>
              <a:t>Six AI agents on one graph — signal to cited action in </a:t>
            </a:r>
            <a:r>
              <a:rPr sz="2200" b="1" i="0">
                <a:solidFill>
                  <a:srgbClr val="059669"/>
                </a:solidFill>
                <a:latin typeface="Calibri"/>
              </a:rPr>
              <a:t>0.8–9.7 seconds, measured live</a:t>
            </a:r>
            <a:r>
              <a:rPr sz="1800" b="0" i="0">
                <a:solidFill>
                  <a:srgbClr val="475569"/>
                </a:solidFill>
                <a:latin typeface="Calibri"/>
              </a:rPr>
              <a:t>.  The spatial unit everywhere is the same ~1 km² cell, so every claim traces from raw reading to action.</a:t>
            </a:r>
          </a:p>
        </p:txBody>
      </p:sp>
      <p:pic>
        <p:nvPicPr>
          <p:cNvPr id="22" name="Picture 21" descr="icon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55664"/>
            <a:ext cx="256032" cy="25603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59536" y="6483096"/>
            <a:ext cx="8229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VayuNetra · ET AI Hackathon 2.0 Finale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64240" y="6483096"/>
            <a:ext cx="640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p-di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6EE7B7"/>
                </a:solidFill>
                <a:latin typeface="Calibri"/>
              </a:rPr>
              <a:t>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 i="0">
                <a:solidFill>
                  <a:srgbClr val="FFFFFF"/>
                </a:solidFill>
                <a:latin typeface="Calibri"/>
              </a:rPr>
              <a:t>Delhi, right now.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971800"/>
            <a:ext cx="6949440" cy="566928"/>
          </a:xfrm>
          <a:prstGeom prst="roundRect">
            <a:avLst>
              <a:gd name="adj" fmla="val 50000"/>
            </a:avLst>
          </a:prstGeom>
          <a:solidFill>
            <a:srgbClr val="24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3063240"/>
            <a:ext cx="64922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FFFFFF"/>
                </a:solidFill>
                <a:latin typeface="Calibri"/>
              </a:rPr>
              <a:t>1 · Blame map — click a cell: who's responsible, and its past year of air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685032"/>
            <a:ext cx="6949440" cy="566928"/>
          </a:xfrm>
          <a:prstGeom prst="roundRect">
            <a:avLst>
              <a:gd name="adj" fmla="val 50000"/>
            </a:avLst>
          </a:prstGeom>
          <a:solidFill>
            <a:srgbClr val="24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776472"/>
            <a:ext cx="64922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FFFFFF"/>
                </a:solidFill>
                <a:latin typeface="Calibri"/>
              </a:rPr>
              <a:t>2 · Enforcement — satellite evidence → draft notice PDF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398264"/>
            <a:ext cx="6949440" cy="566928"/>
          </a:xfrm>
          <a:prstGeom prst="roundRect">
            <a:avLst>
              <a:gd name="adj" fmla="val 50000"/>
            </a:avLst>
          </a:prstGeom>
          <a:solidFill>
            <a:srgbClr val="24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4489704"/>
            <a:ext cx="64922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FFFFFF"/>
                </a:solidFill>
                <a:latin typeface="Calibri"/>
              </a:rPr>
              <a:t>3 · Advisories — Hindi · Telegram · a real IVR phone line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5111496"/>
            <a:ext cx="6949440" cy="566928"/>
          </a:xfrm>
          <a:prstGeom prst="roundRect">
            <a:avLst>
              <a:gd name="adj" fmla="val 50000"/>
            </a:avLst>
          </a:prstGeom>
          <a:solidFill>
            <a:srgbClr val="24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5202936"/>
            <a:ext cx="64922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FFFFFF"/>
                </a:solidFill>
                <a:latin typeface="Calibri"/>
              </a:rPr>
              <a:t>4 · Pipeline — six agents run live, traced per node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1722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94A3B8"/>
                </a:solidFill>
                <a:latin typeface="Calibri"/>
              </a:rPr>
              <a:t>running from this laptop — no venue wifi required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59669"/>
                </a:solidFill>
                <a:latin typeface="Calibri"/>
              </a:rPr>
              <a:t>TECHNICAL RIGOUR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247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F172A"/>
                </a:solidFill>
                <a:latin typeface="Calibri"/>
              </a:rPr>
              <a:t>Every number is checked — including our failures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45920"/>
            <a:ext cx="11192256" cy="530352"/>
          </a:xfrm>
          <a:prstGeom prst="rect">
            <a:avLst/>
          </a:prstGeom>
          <a:solidFill>
            <a:srgbClr val="1B294A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361187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FFFFFF"/>
                </a:solidFill>
                <a:latin typeface="Calibri"/>
              </a:rPr>
              <a:t>Claim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645920"/>
            <a:ext cx="3246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FFFFFF"/>
                </a:solidFill>
                <a:latin typeface="Calibri"/>
              </a:rPr>
              <a:t>Result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75319" y="1645920"/>
            <a:ext cx="32369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FFFFFF"/>
                </a:solidFill>
                <a:latin typeface="Calibri"/>
              </a:rPr>
              <a:t>How it was checked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176272"/>
            <a:ext cx="11192256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176272"/>
            <a:ext cx="361187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Attribution matches official inventories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176272"/>
            <a:ext cx="3246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0F172A"/>
                </a:solidFill>
                <a:latin typeface="Calibri"/>
              </a:rPr>
              <a:t>cosine 0.88 / 0.90 / 0.93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75319" y="2176272"/>
            <a:ext cx="32369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vs SAFAR-Delhi · CSTEP-Bengaluru (verified) · Urban-Emissions Mumbai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706624"/>
            <a:ext cx="11192256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706624"/>
            <a:ext cx="361187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Attribution behaves physically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2706624"/>
            <a:ext cx="3246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0F172A"/>
                </a:solidFill>
                <a:latin typeface="Calibri"/>
              </a:rPr>
              <a:t>2.30× traffic SHAP in rush hours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19" y="2706624"/>
            <a:ext cx="32369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IST rush vs off-peak, weather controlled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236976"/>
            <a:ext cx="11192256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236976"/>
            <a:ext cx="361187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Forecast beats real baselines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3236976"/>
            <a:ext cx="3246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0F172A"/>
                </a:solidFill>
                <a:latin typeface="Calibri"/>
              </a:rPr>
              <a:t>Delhi +9% / +13% / +12% · Mumbai +16% / +19% / +21%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19" y="3236976"/>
            <a:ext cx="32369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multi-season split, 90-d rolling refit, blended with persistence (A11)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767328"/>
            <a:ext cx="11192256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767328"/>
            <a:ext cx="361187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Warns before the air turns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63440" y="3767328"/>
            <a:ext cx="3246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0F172A"/>
                </a:solidFill>
                <a:latin typeface="Calibri"/>
              </a:rPr>
              <a:t>51–54% of Very-Poor onsets, 1–3 days ahead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19" y="3767328"/>
            <a:ext cx="32369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alarm on calibrated P ≥ 0.3; persistence = 0 by construction (A11)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297680"/>
            <a:ext cx="11192256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297680"/>
            <a:ext cx="361187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Uncertainty is honest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4297680"/>
            <a:ext cx="3246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0F172A"/>
                </a:solidFill>
                <a:latin typeface="Calibri"/>
              </a:rPr>
              <a:t>80% band → 78% measured · calibrated P(&gt;120/&gt;250)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19" y="4297680"/>
            <a:ext cx="32369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conformal calibration; Brier skill +51% / +31% vs climatology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4828031"/>
            <a:ext cx="11192256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4828031"/>
            <a:ext cx="361187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Model choice was earned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63440" y="4828031"/>
            <a:ext cx="3246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0F172A"/>
                </a:solidFill>
                <a:latin typeface="Calibri"/>
              </a:rPr>
              <a:t>TFT trained on GPU — and rejected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19" y="4828031"/>
            <a:ext cx="32369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LightGBM won held-out skill in every launch city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358383"/>
            <a:ext cx="11192256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5358383"/>
            <a:ext cx="361187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It holds together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5358383"/>
            <a:ext cx="3246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0F172A"/>
                </a:solidFill>
                <a:latin typeface="Calibri"/>
              </a:rPr>
              <a:t>204 backend + 16 e2e flows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19" y="5358383"/>
            <a:ext cx="32369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CI on every push · full offline demo mode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5980175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64748B"/>
                </a:solidFill>
                <a:latin typeface="Calibri"/>
              </a:rPr>
              <a:t>All reproducible: eval/evaluate.ipynb + python -m ml.eval.benchmark (docs/BENCHMARKS.md) — failures included.</a:t>
            </a:r>
          </a:p>
        </p:txBody>
      </p:sp>
      <p:pic>
        <p:nvPicPr>
          <p:cNvPr id="37" name="Picture 36" descr="icon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55664"/>
            <a:ext cx="256032" cy="256032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859536" y="6483096"/>
            <a:ext cx="8229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VayuNetra · ET AI Hackathon 2.0 Finale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64240" y="6483096"/>
            <a:ext cx="640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59669"/>
                </a:solidFill>
                <a:latin typeface="Calibri"/>
              </a:rPr>
              <a:t>BUSINESS IMPACT · SCALABILITY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247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F172A"/>
                </a:solidFill>
                <a:latin typeface="Calibri"/>
              </a:rPr>
              <a:t>Built to deploy, not to demo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5486400" cy="123444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56232"/>
            <a:ext cx="502920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59669"/>
                </a:solidFill>
                <a:latin typeface="Calibri"/>
              </a:rPr>
              <a:t>₹2.56M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59736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50" b="0" i="0">
                <a:solidFill>
                  <a:srgbClr val="475569"/>
                </a:solidFill>
                <a:latin typeface="Calibri"/>
              </a:rPr>
              <a:t>health cost avoided by ONE waste-burn ban, in 24 hours — every figure cited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063240"/>
            <a:ext cx="5486400" cy="123444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227832"/>
            <a:ext cx="502920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59669"/>
                </a:solidFill>
                <a:latin typeface="Calibri"/>
              </a:rPr>
              <a:t>₹0.88 L cr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831335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50" b="0" i="0">
                <a:solidFill>
                  <a:srgbClr val="475569"/>
                </a:solidFill>
                <a:latin typeface="Calibri"/>
              </a:rPr>
              <a:t>of Delhi's annual health burden avertable at the −30% NCAP target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434840"/>
            <a:ext cx="5486400" cy="12344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599431"/>
            <a:ext cx="502920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284C7"/>
                </a:solidFill>
                <a:latin typeface="Calibri"/>
              </a:rPr>
              <a:t>₹0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202936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50" b="0" i="0">
                <a:solidFill>
                  <a:srgbClr val="475569"/>
                </a:solidFill>
                <a:latin typeface="Calibri"/>
              </a:rPr>
              <a:t>infrastructure cost — free tiers end-to-end; 7 metros onboarded from config in one week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691640"/>
            <a:ext cx="5431536" cy="4069080"/>
          </a:xfrm>
          <a:prstGeom prst="roundRect">
            <a:avLst>
              <a:gd name="adj" fmla="val 8000"/>
            </a:avLst>
          </a:prstGeom>
          <a:solidFill>
            <a:srgbClr val="1B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19202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6EE7B7"/>
                </a:solidFill>
                <a:latin typeface="Calibri"/>
              </a:rPr>
              <a:t>RUNNING AT PRODUCTION SCALE — LIVE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395728"/>
            <a:ext cx="1417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92440" y="2459736"/>
            <a:ext cx="3520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D1D5DB"/>
                </a:solidFill>
                <a:latin typeface="Calibri"/>
              </a:rPr>
              <a:t>cities live · Delhi to Lucknow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2953512"/>
            <a:ext cx="1417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FFFFFF"/>
                </a:solidFill>
                <a:latin typeface="Calibri"/>
              </a:rPr>
              <a:t>16,529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40" y="3017520"/>
            <a:ext cx="3520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D1D5DB"/>
                </a:solidFill>
                <a:latin typeface="Calibri"/>
              </a:rPr>
              <a:t>~1 km² cells modeled · 10 cities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3511296"/>
            <a:ext cx="1417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FFFFFF"/>
                </a:solidFill>
                <a:latin typeface="Calibri"/>
              </a:rPr>
              <a:t>647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2440" y="3575303"/>
            <a:ext cx="3520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D1D5DB"/>
                </a:solidFill>
                <a:latin typeface="Calibri"/>
              </a:rPr>
              <a:t>registered + satellite-detected sources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069080"/>
            <a:ext cx="1417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FFFFFF"/>
                </a:solidFill>
                <a:latin typeface="Calibri"/>
              </a:rPr>
              <a:t>5,495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2440" y="4133088"/>
            <a:ext cx="3520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D1D5DB"/>
                </a:solidFill>
                <a:latin typeface="Calibri"/>
              </a:rPr>
              <a:t>vulnerability-scored zones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4626864"/>
            <a:ext cx="1417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FFFFFF"/>
                </a:solidFill>
                <a:latin typeface="Calibri"/>
              </a:rPr>
              <a:t>454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92440" y="4690872"/>
            <a:ext cx="3520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D1D5DB"/>
                </a:solidFill>
                <a:latin typeface="Calibri"/>
              </a:rPr>
              <a:t>RAG-cited enforcement recommendations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5184648"/>
            <a:ext cx="1417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92440" y="5248656"/>
            <a:ext cx="3520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D1D5DB"/>
                </a:solidFill>
                <a:latin typeface="Calibri"/>
              </a:rPr>
              <a:t>advisory languages · app / Telegram / IVR / displays</a:t>
            </a:r>
          </a:p>
        </p:txBody>
      </p:sp>
      <p:pic>
        <p:nvPicPr>
          <p:cNvPr id="27" name="Picture 26" descr="icon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55664"/>
            <a:ext cx="256032" cy="256032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59536" y="6483096"/>
            <a:ext cx="8229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VayuNetra · ET AI Hackathon 2.0 Finale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64240" y="6483096"/>
            <a:ext cx="640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con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868680"/>
            <a:ext cx="914400" cy="914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2103120"/>
            <a:ext cx="1060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3000" b="0" i="0">
                <a:solidFill>
                  <a:srgbClr val="94A3B8"/>
                </a:solidFill>
                <a:latin typeface="Calibri"/>
              </a:rPr>
              <a:t>India measures. India forecasts.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5400" b="1" i="0">
                <a:solidFill>
                  <a:srgbClr val="FFFFFF"/>
                </a:solidFill>
                <a:latin typeface="Calibri"/>
              </a:rPr>
              <a:t>VayuNetra operates.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" y="4206240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 i="0">
                <a:solidFill>
                  <a:srgbClr val="D1D5DB"/>
                </a:solidFill>
                <a:latin typeface="Calibri"/>
              </a:rPr>
              <a:t>Traced, predicted, cited, delivered. </a:t>
            </a:r>
            <a:r>
              <a:rPr sz="2400" b="1" i="0">
                <a:solidFill>
                  <a:srgbClr val="6EE7B7"/>
                </a:solidFill>
                <a:latin typeface="Calibri"/>
              </a:rPr>
              <a:t>In seconds. In four languages. For ₹0.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392" y="5212080"/>
            <a:ext cx="10488168" cy="12801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5440680"/>
            <a:ext cx="104241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vayunetra-aqi.vercel.app</a:t>
            </a:r>
            <a:r>
              <a:rPr sz="1600" b="0" i="0">
                <a:solidFill>
                  <a:srgbClr val="D1D5DB"/>
                </a:solidFill>
                <a:latin typeface="Calibri"/>
              </a:rPr>
              <a:t>      github.com/omkarrr88/VayuNetra</a:t>
            </a:r>
            <a:r>
              <a:rPr sz="1600" b="0" i="0">
                <a:solidFill>
                  <a:srgbClr val="D1D5DB"/>
                </a:solidFill>
                <a:latin typeface="Calibri"/>
              </a:rPr>
              <a:t>      @aqivayu_bot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603504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94A3B8"/>
                </a:solidFill>
                <a:latin typeface="Calibri"/>
              </a:rPr>
              <a:t>Omkar Kadam · Sejal Kumbhar · Abhinav Prasad — thank you.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059669"/>
                </a:solidFill>
                <a:latin typeface="Calibri"/>
              </a:rP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0F172A"/>
                </a:solidFill>
                <a:latin typeface="Calibri"/>
              </a:rPr>
              <a:t>For the Q&amp;A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75569"/>
                </a:solidFill>
                <a:latin typeface="Calibri"/>
              </a:rPr>
              <a:t>A1 Architecture · A2 Six agents live · A3 Evidence dossier · A4 Citizen reach · A5 Models &amp; validation detail · A6 Honesty &amp; fairness · A7 Cost, security &amp; roadmap · A8 Ten cities · A9 Past air · A10 Positioning vs SAFAR/DSS/PRANA · A11 Early warning &amp; calibration · A12 Attribution &amp; exposure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rch-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831" y="0"/>
            <a:ext cx="10924032" cy="614476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199632"/>
            <a:ext cx="12191695" cy="658368"/>
          </a:xfrm>
          <a:prstGeom prst="rect">
            <a:avLst/>
          </a:prstGeom>
          <a:solidFill>
            <a:srgbClr val="1B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254496"/>
            <a:ext cx="23774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6EE7B7"/>
                </a:solidFill>
                <a:latin typeface="Calibri"/>
              </a:rPr>
              <a:t>A1 ·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6254496"/>
            <a:ext cx="86868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Two seams — the database schema and the API contract — decouple every layer. Three people built in parallel for weeks.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ipelin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199632"/>
            <a:ext cx="12191695" cy="658368"/>
          </a:xfrm>
          <a:prstGeom prst="rect">
            <a:avLst/>
          </a:prstGeom>
          <a:solidFill>
            <a:srgbClr val="1B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254496"/>
            <a:ext cx="21945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6EE7B7"/>
                </a:solidFill>
                <a:latin typeface="Calibri"/>
              </a:rPr>
              <a:t>A2 · THE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6254496"/>
            <a:ext cx="8961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Six agents traced per node — captured during a real Delhi spike (AQI 323): the gate escalated, enforcement regenerated the worklist, seconds end-to-end.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ossi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199632"/>
            <a:ext cx="12191695" cy="658368"/>
          </a:xfrm>
          <a:prstGeom prst="rect">
            <a:avLst/>
          </a:prstGeom>
          <a:solidFill>
            <a:srgbClr val="1B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254496"/>
            <a:ext cx="21945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6EE7B7"/>
                </a:solidFill>
                <a:latin typeface="Calibri"/>
              </a:rPr>
              <a:t>A3 ·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6254496"/>
            <a:ext cx="8961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Every recommendation: real Sentinel-2 imagery of the actual site + regulatory citations retrieved from the NCAP/GRAP/CPCB corpus + draft notice PDF. Officer-in-the-loop, never auto-sent.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itize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199632"/>
            <a:ext cx="12191695" cy="658368"/>
          </a:xfrm>
          <a:prstGeom prst="rect">
            <a:avLst/>
          </a:prstGeom>
          <a:solidFill>
            <a:srgbClr val="1B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254496"/>
            <a:ext cx="21945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6EE7B7"/>
                </a:solidFill>
                <a:latin typeface="Calibri"/>
              </a:rPr>
              <a:t>A4 · CITIZENS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6254496"/>
            <a:ext cx="8961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The same advisory in English, Hindi, Kannada, Marathi — app, live Telegram bot, real IVR phone line (call in, press 1 for Delhi), public displays. Targeted by 5,495 vulnerability-scored zones.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iti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199632"/>
            <a:ext cx="12191695" cy="658368"/>
          </a:xfrm>
          <a:prstGeom prst="rect">
            <a:avLst/>
          </a:prstGeom>
          <a:solidFill>
            <a:srgbClr val="1B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254496"/>
            <a:ext cx="21945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6EE7B7"/>
                </a:solidFill>
                <a:latin typeface="Calibri"/>
              </a:rPr>
              <a:t>A8 · TEN CITIES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6254496"/>
            <a:ext cx="8961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Ten cities live — Delhi, Bengaluru, Mumbai, Hyderabad, Chennai, Kolkata, Pune, Ahmedabad, Jaipur, Lucknow — ranked Swachh-Vayu style. Seven were onboarded from config in one week; every layer is city-agnostic.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stor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199632"/>
            <a:ext cx="12191695" cy="658368"/>
          </a:xfrm>
          <a:prstGeom prst="rect">
            <a:avLst/>
          </a:prstGeom>
          <a:solidFill>
            <a:srgbClr val="1B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254496"/>
            <a:ext cx="21945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6EE7B7"/>
                </a:solidFill>
                <a:latin typeface="Calibri"/>
              </a:rPr>
              <a:t>A9 · PAST AIR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6254496"/>
            <a:ext cx="8961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Every place carries its own history: daily PM2.5 over the CPCB colour bands, 30 days to a year, with a one-line verdict anyone can read. Delhi's real winter smog season — 400+ µg/m³ in Nov–Dec — against the monsoon.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59669"/>
                </a:solidFill>
                <a:latin typeface="Calibri"/>
              </a:rPr>
              <a:t>A5 · MODELS &amp; VALIDATION DETAIL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247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F172A"/>
                </a:solidFill>
                <a:latin typeface="Calibri"/>
              </a:rPr>
              <a:t>The full numbers, both baselines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00200"/>
            <a:ext cx="11155680" cy="457200"/>
          </a:xfrm>
          <a:prstGeom prst="rect">
            <a:avLst/>
          </a:prstGeom>
          <a:solidFill>
            <a:srgbClr val="1B294A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00200"/>
            <a:ext cx="475487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Forecast skill (24/48/72 h) — measured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1600200"/>
            <a:ext cx="2651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vs persistence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23959" y="1600200"/>
            <a:ext cx="2651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vs weekly seasonal-naive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057400"/>
            <a:ext cx="1115568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057400"/>
            <a:ext cx="475487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475569"/>
                </a:solidFill>
                <a:latin typeface="Calibri"/>
              </a:rPr>
              <a:t>Delhi · multi-season, 207k test hrs (winter 25-26 + summer 26)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06440" y="2057400"/>
            <a:ext cx="2651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F172A"/>
                </a:solidFill>
                <a:latin typeface="Calibri"/>
              </a:rPr>
              <a:t>+9% / +13% / +12%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23959" y="2057400"/>
            <a:ext cx="2651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F172A"/>
                </a:solidFill>
                <a:latin typeface="Calibri"/>
              </a:rPr>
              <a:t>+20% / +17% / +13%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514600"/>
            <a:ext cx="1115568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514600"/>
            <a:ext cx="475487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475569"/>
                </a:solidFill>
                <a:latin typeface="Calibri"/>
              </a:rPr>
              <a:t>Delhi · live 90-day window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06440" y="2514600"/>
            <a:ext cx="2651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F172A"/>
                </a:solidFill>
                <a:latin typeface="Calibri"/>
              </a:rPr>
              <a:t>+16% / +19% / +12%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23959" y="2514600"/>
            <a:ext cx="2651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F172A"/>
                </a:solidFill>
                <a:latin typeface="Calibri"/>
              </a:rPr>
              <a:t>+27% / +22% / +19%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71800"/>
            <a:ext cx="1115568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2971800"/>
            <a:ext cx="475487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475569"/>
                </a:solidFill>
                <a:latin typeface="Calibri"/>
              </a:rPr>
              <a:t>Bengaluru · live 90-day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06440" y="2971800"/>
            <a:ext cx="2651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F172A"/>
                </a:solidFill>
                <a:latin typeface="Calibri"/>
              </a:rPr>
              <a:t>+14% / +42% / +47%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59" y="2971800"/>
            <a:ext cx="2651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F172A"/>
                </a:solidFill>
                <a:latin typeface="Calibri"/>
              </a:rPr>
              <a:t>+11% / -8% / +3%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429000"/>
            <a:ext cx="1115568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429000"/>
            <a:ext cx="475487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475569"/>
                </a:solidFill>
                <a:latin typeface="Calibri"/>
              </a:rPr>
              <a:t>Mumbai · live 90-day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06440" y="3429000"/>
            <a:ext cx="2651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F172A"/>
                </a:solidFill>
                <a:latin typeface="Calibri"/>
              </a:rPr>
              <a:t>+10% / +14% / +6%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23959" y="3429000"/>
            <a:ext cx="2651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F172A"/>
                </a:solidFill>
                <a:latin typeface="Calibri"/>
              </a:rPr>
              <a:t>+51% / +51% / +30%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886200"/>
            <a:ext cx="1115568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3886200"/>
            <a:ext cx="475487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475569"/>
                </a:solidFill>
                <a:latin typeface="Calibri"/>
              </a:rPr>
              <a:t>Hyderabad · live 90-day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06440" y="3886200"/>
            <a:ext cx="2651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F172A"/>
                </a:solidFill>
                <a:latin typeface="Calibri"/>
              </a:rPr>
              <a:t>+11% / +25% / +37%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23959" y="3886200"/>
            <a:ext cx="2651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F172A"/>
                </a:solidFill>
                <a:latin typeface="Calibri"/>
              </a:rPr>
              <a:t>+32% / +31% / +27%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441655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64748B"/>
                </a:solidFill>
                <a:latin typeface="Calibri"/>
              </a:rPr>
              <a:t>Protocol: strict temporal split, rolling monthly refit on the trailing 90 days (= production), one shared support mask, baselines persistence / seasonal-naive / climatology. docs/BENCHMARKS.md · GET /metrics/benchmark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4846320"/>
            <a:ext cx="11155680" cy="14173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1" i="0">
                <a:solidFill>
                  <a:srgbClr val="0F172A"/>
                </a:solidFill>
                <a:latin typeface="Calibri"/>
              </a:rPr>
              <a:t>Attribution </a:t>
            </a:r>
            <a:r>
              <a:rPr sz="1250" b="0" i="0">
                <a:solidFill>
                  <a:srgbClr val="475569"/>
                </a:solidFill>
                <a:latin typeface="Calibri"/>
              </a:rPr>
              <a:t>— LightGBM + SHAP blended with chemical-signature priors; abstains below an out-of-sample R² gate of 0.15. Compared honestly with TERI-ARAI 2018 for Delhi and Guttikunda 2019 / CSTEP 2022 for Bengaluru (A12): dust-first and traffic-first rankings agree, kerbside traffic is over-read, small waste fires are invisible to FIRMS — stated, not hidden. Traffic SHAP 2.30× higher in IST rush hours with weather controlled.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1" i="0">
                <a:solidFill>
                  <a:srgbClr val="0F172A"/>
                </a:solidFill>
                <a:latin typeface="Calibri"/>
              </a:rPr>
              <a:t>Uncertainty </a:t>
            </a:r>
            <a:r>
              <a:rPr sz="1250" b="0" i="0">
                <a:solidFill>
                  <a:srgbClr val="475569"/>
                </a:solidFill>
                <a:latin typeface="Calibri"/>
              </a:rPr>
              <a:t>— conformalised quantile regression: 80% band measured at 78% coverage on 207k Delhi test hours; every forecast now also carries a calibrated P(&gt;120) / P(&gt;250) (Brier skill +49% / +23% vs climatology at 24 h).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1" i="0">
                <a:solidFill>
                  <a:srgbClr val="0F172A"/>
                </a:solidFill>
                <a:latin typeface="Calibri"/>
              </a:rPr>
              <a:t>Model selection </a:t>
            </a:r>
            <a:r>
              <a:rPr sz="1250" b="0" i="0">
                <a:solidFill>
                  <a:srgbClr val="475569"/>
                </a:solidFill>
                <a:latin typeface="Calibri"/>
              </a:rPr>
              <a:t>— TFT trained on GPU and rejected: LightGBM won held-out skill in every launch city; the notebook keeps the failure.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1" i="0">
                <a:solidFill>
                  <a:srgbClr val="0F172A"/>
                </a:solidFill>
                <a:latin typeface="Calibri"/>
              </a:rPr>
              <a:t>Satellite detection </a:t>
            </a:r>
            <a:r>
              <a:rPr sz="1250" b="0" i="0">
                <a:solidFill>
                  <a:srgbClr val="475569"/>
                </a:solidFill>
                <a:latin typeface="Calibri"/>
              </a:rPr>
              <a:t>— labelled Earth-Engine heuristic today (NDVI drop → construction, FIRMS thermal → burning); U-Net drops into the same schema.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59669"/>
                </a:solidFill>
                <a:latin typeface="Calibri"/>
              </a:rPr>
              <a:t>A6 · HONESTY &amp; FAIRNESS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247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F172A"/>
                </a:solidFill>
                <a:latin typeface="Calibri"/>
              </a:rPr>
              <a:t>Honest by construction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45920"/>
            <a:ext cx="5596128" cy="1371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0664" y="1773936"/>
            <a:ext cx="5166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059669"/>
                </a:solidFill>
                <a:latin typeface="Calibri"/>
              </a:rPr>
              <a:t>The model abstains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" y="2157984"/>
            <a:ext cx="5166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No ML blame without out-of-sample skill; falls back to cited chemical-signature priors and says so in the UI.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59" y="1645920"/>
            <a:ext cx="5596128" cy="1371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47103" y="1773936"/>
            <a:ext cx="5166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059669"/>
                </a:solidFill>
                <a:latin typeface="Calibri"/>
              </a:rPr>
              <a:t>Health text is LLM-free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47103" y="2157984"/>
            <a:ext cx="5166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Advisories are deterministic templates in 4 languages — a language model cannot hallucinate medical advice.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154680"/>
            <a:ext cx="5596128" cy="1371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0664" y="3282696"/>
            <a:ext cx="5166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059669"/>
                </a:solidFill>
                <a:latin typeface="Calibri"/>
              </a:rPr>
              <a:t>Notices are drafts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" y="3666744"/>
            <a:ext cx="5166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Stamped 'pending officer authorisation'; never auto-sent. Dispatching starts before/after impact measurement, corrected for city drift.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59" y="3154680"/>
            <a:ext cx="5596128" cy="1371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47103" y="3282696"/>
            <a:ext cx="5166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059669"/>
                </a:solidFill>
                <a:latin typeface="Calibri"/>
              </a:rPr>
              <a:t>Nothing fabricated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3" y="3666744"/>
            <a:ext cx="5166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Impact figures return null over invented constants; &lt;2% contributors never enter the worklist; satellite evidence is real imagery of the real site.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663440"/>
            <a:ext cx="5596128" cy="1371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664" y="4791455"/>
            <a:ext cx="5166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059669"/>
                </a:solidFill>
                <a:latin typeface="Calibri"/>
              </a:rPr>
              <a:t>No socio-economic inputs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664" y="5175504"/>
            <a:ext cx="5166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Priority = contribution × exposure × actionability × confidence. No income or land-value feature exists anywhere in the pipeline — the fairness audit publishes what drives priority.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59" y="4663440"/>
            <a:ext cx="5596128" cy="1371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3" y="4791455"/>
            <a:ext cx="5166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059669"/>
                </a:solidFill>
                <a:latin typeface="Calibri"/>
              </a:rPr>
              <a:t>Auditable end to end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3" y="5175504"/>
            <a:ext cx="5166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Per-node agent traces + enforcement status history; every recommendation is reviewable after the fact.</a:t>
            </a:r>
          </a:p>
        </p:txBody>
      </p:sp>
      <p:pic>
        <p:nvPicPr>
          <p:cNvPr id="22" name="Picture 21" descr="icon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55664"/>
            <a:ext cx="256032" cy="25603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59536" y="6483096"/>
            <a:ext cx="8229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VayuNetra · ET AI Hackathon 2.0 Finale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64240" y="6483096"/>
            <a:ext cx="640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A6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59669"/>
                </a:solidFill>
                <a:latin typeface="Calibri"/>
              </a:rPr>
              <a:t>A7 · COST, SECURITY &amp;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247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F172A"/>
                </a:solidFill>
                <a:latin typeface="Calibri"/>
              </a:rPr>
              <a:t>₹0 today — a config file per city, a clear path forward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3721608" cy="393192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8952" y="192024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0284C7"/>
                </a:solidFill>
                <a:latin typeface="Calibri"/>
              </a:rPr>
              <a:t>STACK · ₹0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2377440"/>
            <a:ext cx="32461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50" b="0" i="0">
                <a:solidFill>
                  <a:srgbClr val="475569"/>
                </a:solidFill>
                <a:latin typeface="Calibri"/>
              </a:rPr>
              <a:t>FastAPI on Render · React + MapLibre on Vercel · Supabase Postgres (PostGIS + pgvector) · LangGraph · GitHub Actions crons. All free tier — the same two-seam architecture scales onto paid tiers with no redesign.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07407" y="1691640"/>
            <a:ext cx="3721608" cy="393192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63440" y="192024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0284C7"/>
                </a:solidFill>
                <a:latin typeface="Calibri"/>
              </a:rPr>
              <a:t>SECURITY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2377440"/>
            <a:ext cx="32461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50" b="0" i="0">
                <a:solidFill>
                  <a:srgbClr val="475569"/>
                </a:solidFill>
                <a:latin typeface="Calibri"/>
              </a:rPr>
              <a:t>Row-level security on every table. Public reads via anon JWT; every write is service-role, server-side. Admin ops behind a key header. Full offline demo mode — no external dependency on stage.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11896" y="1691640"/>
            <a:ext cx="3721608" cy="393192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67928" y="192024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0284C7"/>
                </a:solidFill>
                <a:latin typeface="Calibri"/>
              </a:rPr>
              <a:t>ROADMAP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67928" y="2377440"/>
            <a:ext cx="32461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50" b="0" i="0">
                <a:solidFill>
                  <a:srgbClr val="475569"/>
                </a:solidFill>
                <a:latin typeface="Calibri"/>
              </a:rPr>
              <a:t>InMAP/PAVITRA source–receptor physics under the what-if engine · U-Net satellite detector to replace the labelled heuristic · in-language IVR voice + more languages · municipal permit-registry connectors.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852160"/>
            <a:ext cx="11155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64748B"/>
                </a:solidFill>
                <a:latin typeface="Calibri"/>
              </a:rPr>
              <a:t>Adding a city: one YAML (bbox, languages, regulatory authority) + one backfill run — 7 metros were added this way in a week.</a:t>
            </a:r>
          </a:p>
        </p:txBody>
      </p:sp>
      <p:pic>
        <p:nvPicPr>
          <p:cNvPr id="14" name="Picture 13" descr="icon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55664"/>
            <a:ext cx="256032" cy="2560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59536" y="6483096"/>
            <a:ext cx="8229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VayuNetra · ET AI Hackathon 2.0 Finale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64240" y="6483096"/>
            <a:ext cx="640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A7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59669"/>
                </a:solidFill>
                <a:latin typeface="Calibri"/>
              </a:rPr>
              <a:t>A10 · POSITIONING VS THE STATUS QUO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247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0F172A"/>
                </a:solidFill>
                <a:latin typeface="Calibri"/>
              </a:rPr>
              <a:t>India can measure and forecast its air. The gap is acting on it — audited.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3721608" cy="3977639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8952" y="1920240"/>
            <a:ext cx="3200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 i="0">
                <a:solidFill>
                  <a:srgbClr val="0284C7"/>
                </a:solidFill>
                <a:latin typeface="Calibri"/>
              </a:rPr>
              <a:t>WHAT EXISTS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2514600"/>
            <a:ext cx="32461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 i="0">
                <a:solidFill>
                  <a:srgbClr val="475569"/>
                </a:solidFill>
                <a:latin typeface="Calibri"/>
              </a:rPr>
              <a:t>SAFAR (IITM, 4 cities, city-level bulletin) · AQEWS/DSS (WRF-Chem, 400 m grid, 29-source — CAQM/government users only) · PRANA (cities report NCAP actions &amp; spend) · NCAP Tracker (public trends) · CAAQMS/SAMEER (a reading, not a decision).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07407" y="1691640"/>
            <a:ext cx="3721608" cy="3977639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63440" y="1920240"/>
            <a:ext cx="3200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 i="0">
                <a:solidFill>
                  <a:srgbClr val="0284C7"/>
                </a:solidFill>
                <a:latin typeface="Calibri"/>
              </a:rPr>
              <a:t>WHAT THE AUDIT FOUND · CEEW, Oct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2514600"/>
            <a:ext cx="32461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 i="0">
                <a:solidFill>
                  <a:srgbClr val="475569"/>
                </a:solidFill>
                <a:latin typeface="Calibri"/>
              </a:rPr>
              <a:t>'Severe and above' caught 5 of 14 episodes in winter 2024-25 (1 of 15 the winter before) · PM2.5 under-predicted by −24 µg/m³ in winter · CAQM imposed GRAP III/IV on OBSERVED AQI, not forecasts, both winters · DSS 'lacks outcome monitoring and actionable short-term pathways'.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11896" y="1691640"/>
            <a:ext cx="3721608" cy="3977639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67928" y="1920240"/>
            <a:ext cx="3200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 i="0">
                <a:solidFill>
                  <a:srgbClr val="0284C7"/>
                </a:solidFill>
                <a:latin typeface="Calibri"/>
              </a:rPr>
              <a:t>WHAT VAYUNETRA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67928" y="2514600"/>
            <a:ext cx="32461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 i="0">
                <a:solidFill>
                  <a:srgbClr val="475569"/>
                </a:solidFill>
                <a:latin typeface="Calibri"/>
              </a:rPr>
              <a:t>Calibrated P(&gt; band) on every cell forecast + onset-recall reported vs persistence · live hourly attribution, not a 2016 inventory · forecast → named notice with citations → dispatch → measured outcome · what-if, ROI, NCAP fund guidance, PRANA export · public, 6 languages, IVR/Telegram/web · ₹0 on the sunk CAAQMS investment.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85216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4748B"/>
                </a:solidFill>
                <a:latin typeface="Calibri"/>
              </a:rPr>
              <a:t>We do not claim to out-model WRF-Chem. Sources: CEEW 'How Well can Delhi Predict Air Quality?' (Ignatious &amp; Rafiuddin, 2025); Ghude et al., GMD 17 (2024); docs/POSITIONING.md</a:t>
            </a:r>
          </a:p>
        </p:txBody>
      </p:sp>
      <p:pic>
        <p:nvPicPr>
          <p:cNvPr id="14" name="Picture 13" descr="icon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55664"/>
            <a:ext cx="256032" cy="2560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59536" y="6483096"/>
            <a:ext cx="8229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VayuNetra · ET AI Hackathon 2.0 Finale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64240" y="6483096"/>
            <a:ext cx="640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A10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59669"/>
                </a:solidFill>
                <a:latin typeface="Calibri"/>
              </a:rPr>
              <a:t>A11 · EARLY WARNING &amp; CALIBRATION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247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0F172A"/>
                </a:solidFill>
                <a:latin typeface="Calibri"/>
              </a:rPr>
              <a:t>Does it warn before the air turns? Measured on the 2025-26 Delhi winter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45920"/>
            <a:ext cx="11155680" cy="548640"/>
          </a:xfrm>
          <a:prstGeom prst="rect">
            <a:avLst/>
          </a:prstGeom>
          <a:solidFill>
            <a:srgbClr val="1B294A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12648" y="1645920"/>
            <a:ext cx="87782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horizon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09928" y="1645920"/>
            <a:ext cx="115214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onsets (&gt;120)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81528" y="1645920"/>
            <a:ext cx="170078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onset recall — alarm on P ≥ 0.3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01768" y="1645920"/>
            <a:ext cx="188366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onset recall — persistence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04888" y="1645920"/>
            <a:ext cx="170078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alarm F1 (P ≥ 0.3) / persist.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25128" y="1645920"/>
            <a:ext cx="133502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P(&gt;120) Brier skill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79607" y="1645920"/>
            <a:ext cx="96926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80% PI coverage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194560"/>
            <a:ext cx="1115568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" y="2194560"/>
            <a:ext cx="87782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Calibri"/>
              </a:rPr>
              <a:t>+24 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09928" y="2194560"/>
            <a:ext cx="115214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15,701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81528" y="2194560"/>
            <a:ext cx="170078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059669"/>
                </a:solidFill>
                <a:latin typeface="Calibri"/>
              </a:rPr>
              <a:t>54%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01768" y="2194560"/>
            <a:ext cx="188366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4888" y="2194560"/>
            <a:ext cx="170078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0.765 / 0.747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25128" y="2194560"/>
            <a:ext cx="133502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+51%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79607" y="2194560"/>
            <a:ext cx="96926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0.783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743200"/>
            <a:ext cx="11155680" cy="54864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" y="2743200"/>
            <a:ext cx="87782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Calibri"/>
              </a:rPr>
              <a:t>+48 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09928" y="2743200"/>
            <a:ext cx="115214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18,226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81528" y="2743200"/>
            <a:ext cx="170078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059669"/>
                </a:solidFill>
                <a:latin typeface="Calibri"/>
              </a:rPr>
              <a:t>54%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01768" y="2743200"/>
            <a:ext cx="188366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04888" y="2743200"/>
            <a:ext cx="170078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0.744 / 0.708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25128" y="2743200"/>
            <a:ext cx="133502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+46%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79607" y="2743200"/>
            <a:ext cx="96926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0.781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291839"/>
            <a:ext cx="1115568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2648" y="3291839"/>
            <a:ext cx="87782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Calibri"/>
              </a:rPr>
              <a:t>+72 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09928" y="3291839"/>
            <a:ext cx="115214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19,117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81528" y="3291839"/>
            <a:ext cx="170078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059669"/>
                </a:solidFill>
                <a:latin typeface="Calibri"/>
              </a:rPr>
              <a:t>51%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01768" y="3291839"/>
            <a:ext cx="188366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04888" y="3291839"/>
            <a:ext cx="170078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0.725 / 0.696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25128" y="3291839"/>
            <a:ext cx="133502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+38%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79607" y="3291839"/>
            <a:ext cx="96926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0.774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3977639"/>
            <a:ext cx="111556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350" b="1" i="0">
                <a:solidFill>
                  <a:srgbClr val="0F172A"/>
                </a:solidFill>
                <a:latin typeface="Calibri"/>
              </a:rPr>
              <a:t>Onset </a:t>
            </a:r>
            <a:r>
              <a:rPr sz="1350" b="0" i="0">
                <a:solidFill>
                  <a:srgbClr val="475569"/>
                </a:solidFill>
                <a:latin typeface="Calibri"/>
              </a:rPr>
              <a:t>= clean at issue time, above 120 µg/m³ (Very Poor) at t+h. 'Tomorrow = today' has onset recall 0 by construction; a reactive trigger cannot see these hours coming.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350" b="1" i="0">
                <a:solidFill>
                  <a:srgbClr val="0F172A"/>
                </a:solidFill>
                <a:latin typeface="Calibri"/>
              </a:rPr>
              <a:t>Skill vs persistence </a:t>
            </a:r>
            <a:r>
              <a:rPr sz="1350" b="0" i="0">
                <a:solidFill>
                  <a:srgbClr val="475569"/>
                </a:solidFill>
                <a:latin typeface="Calibri"/>
              </a:rPr>
              <a:t>+9% / +13% / +12% at 24/48/72 h on 207k station-hours (served forecast = LightGBM blended with persistence; raw model alone +2 / +10 / +9%); winter-only +7% / +11% / +11%; Mumbai +16% / +19% / +21%.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350" b="1" i="0">
                <a:solidFill>
                  <a:srgbClr val="0F172A"/>
                </a:solidFill>
                <a:latin typeface="Calibri"/>
              </a:rPr>
              <a:t>Where we are weak </a:t>
            </a:r>
            <a:r>
              <a:rPr sz="1350" b="0" i="0">
                <a:solidFill>
                  <a:srgbClr val="475569"/>
                </a:solidFill>
                <a:latin typeface="Calibri"/>
              </a:rPr>
              <a:t>— the Severe tail (&gt;250): the blended forecast only matches persistence there and the median alarm sees few Severe onsets (as the official WRF-Chem does). That is why the product speaks in calibrated probability: P(&gt;250) Brier skill +31% at 24 h.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350" b="1" i="0">
                <a:solidFill>
                  <a:srgbClr val="0F172A"/>
                </a:solidFill>
                <a:latin typeface="Calibri"/>
              </a:rPr>
              <a:t>Every number recomputed </a:t>
            </a:r>
            <a:r>
              <a:rPr sz="1350" b="0" i="0">
                <a:solidFill>
                  <a:srgbClr val="475569"/>
                </a:solidFill>
                <a:latin typeface="Calibri"/>
              </a:rPr>
              <a:t>by python -m ml.eval.benchmark from real station data; served by GET /metrics/benchmark; shown in the console. docs/EARLY_WARNING.md · docs/BENCHMARKS.md</a:t>
            </a:r>
          </a:p>
        </p:txBody>
      </p:sp>
      <p:pic>
        <p:nvPicPr>
          <p:cNvPr id="37" name="Picture 36" descr="icon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55664"/>
            <a:ext cx="256032" cy="256032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859536" y="6483096"/>
            <a:ext cx="8229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VayuNetra · ET AI Hackathon 2.0 Finale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64240" y="6483096"/>
            <a:ext cx="640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A11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59669"/>
                </a:solidFill>
                <a:latin typeface="Calibri"/>
              </a:rPr>
              <a:t>A12 · ATTRIBUTION VALIDATION &amp; EXPOSURE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247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0F172A"/>
                </a:solidFill>
                <a:latin typeface="Calibri"/>
              </a:rPr>
              <a:t>Checked against published apportionment — agreements and disagreements both shown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00200"/>
            <a:ext cx="10881360" cy="457200"/>
          </a:xfrm>
          <a:prstGeom prst="rect">
            <a:avLst/>
          </a:prstGeom>
          <a:solidFill>
            <a:srgbClr val="1B294A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2834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Delhi PM2.5 shares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49040" y="1600200"/>
            <a:ext cx="2560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VayuNetra (Aug 2026, source-only)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600200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TERI-ARAI 2018 · summer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0" y="1600200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TERI-ARAI 2018 · winter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057400"/>
            <a:ext cx="108813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57400"/>
            <a:ext cx="2834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F172A"/>
                </a:solidFill>
                <a:latin typeface="Calibri"/>
              </a:rPr>
              <a:t>Traffic / transport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40" y="2057400"/>
            <a:ext cx="2560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0" i="0">
                <a:solidFill>
                  <a:srgbClr val="0F172A"/>
                </a:solidFill>
                <a:latin typeface="Calibri"/>
              </a:rPr>
              <a:t>28%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57400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0" i="0">
                <a:solidFill>
                  <a:srgbClr val="0F172A"/>
                </a:solidFill>
                <a:latin typeface="Calibri"/>
              </a:rPr>
              <a:t>17%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2057400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0" i="0">
                <a:solidFill>
                  <a:srgbClr val="0F172A"/>
                </a:solidFill>
                <a:latin typeface="Calibri"/>
              </a:rPr>
              <a:t>28%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514600"/>
            <a:ext cx="1088136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514600"/>
            <a:ext cx="2834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F172A"/>
                </a:solidFill>
                <a:latin typeface="Calibri"/>
              </a:rPr>
              <a:t>Industry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40" y="2514600"/>
            <a:ext cx="2560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0" i="0">
                <a:solidFill>
                  <a:srgbClr val="0F172A"/>
                </a:solidFill>
                <a:latin typeface="Calibri"/>
              </a:rPr>
              <a:t>27%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2514600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0" i="0">
                <a:solidFill>
                  <a:srgbClr val="0F172A"/>
                </a:solidFill>
                <a:latin typeface="Calibri"/>
              </a:rPr>
              <a:t>22%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60" y="2514600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0" i="0">
                <a:solidFill>
                  <a:srgbClr val="0F172A"/>
                </a:solidFill>
                <a:latin typeface="Calibri"/>
              </a:rPr>
              <a:t>30%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971800"/>
            <a:ext cx="108813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2971800"/>
            <a:ext cx="2834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F172A"/>
                </a:solidFill>
                <a:latin typeface="Calibri"/>
              </a:rPr>
              <a:t>Dust (soil/road/construction)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40" y="2971800"/>
            <a:ext cx="2560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0" i="0">
                <a:solidFill>
                  <a:srgbClr val="0F172A"/>
                </a:solidFill>
                <a:latin typeface="Calibri"/>
              </a:rPr>
              <a:t>45%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2971800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0" i="0">
                <a:solidFill>
                  <a:srgbClr val="0F172A"/>
                </a:solidFill>
                <a:latin typeface="Calibri"/>
              </a:rPr>
              <a:t>38%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2971800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0" i="0">
                <a:solidFill>
                  <a:srgbClr val="0F172A"/>
                </a:solidFill>
                <a:latin typeface="Calibri"/>
              </a:rPr>
              <a:t>17%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429000"/>
            <a:ext cx="1088136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429000"/>
            <a:ext cx="2834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F172A"/>
                </a:solidFill>
                <a:latin typeface="Calibri"/>
              </a:rPr>
              <a:t>Biomass (residential + agri)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49040" y="3429000"/>
            <a:ext cx="2560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0" i="0">
                <a:solidFill>
                  <a:srgbClr val="0F172A"/>
                </a:solidFill>
                <a:latin typeface="Calibri"/>
              </a:rPr>
              <a:t>0% (monsoon)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3429000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0" i="0">
                <a:solidFill>
                  <a:srgbClr val="0F172A"/>
                </a:solidFill>
                <a:latin typeface="Calibri"/>
              </a:rPr>
              <a:t>15%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52560" y="3429000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0" i="0">
                <a:solidFill>
                  <a:srgbClr val="0F172A"/>
                </a:solidFill>
                <a:latin typeface="Calibri"/>
              </a:rPr>
              <a:t>14%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886200"/>
            <a:ext cx="108813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886200"/>
            <a:ext cx="2834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F172A"/>
                </a:solidFill>
                <a:latin typeface="Calibri"/>
              </a:rPr>
              <a:t>Regional / outside Delhi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49040" y="3886200"/>
            <a:ext cx="2560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0" i="0">
                <a:solidFill>
                  <a:srgbClr val="0F172A"/>
                </a:solidFill>
                <a:latin typeface="Calibri"/>
              </a:rPr>
              <a:t>14% ('transported')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3886200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0" i="0">
                <a:solidFill>
                  <a:srgbClr val="0F172A"/>
                </a:solidFill>
                <a:latin typeface="Calibri"/>
              </a:rPr>
              <a:t>74%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52560" y="3886200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0" i="0">
                <a:solidFill>
                  <a:srgbClr val="0F172A"/>
                </a:solidFill>
                <a:latin typeface="Calibri"/>
              </a:rPr>
              <a:t>64%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4434840"/>
            <a:ext cx="58521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0F172A"/>
                </a:solidFill>
                <a:latin typeface="Calibri"/>
              </a:rPr>
              <a:t>Read honestly. Dust-first ranking agrees with the pre-monsoon study; biomass ≈ 0 in monsoon is right and rises with FIRMS fires in Oct–Nov. We over-read kerbside traffic (arterial-road stations, NO₂/CO signatures) and book less as regional than a dispersion model — a receptor-side method sees the local signal. Bengaluru vs Guttikunda 2019: traffic 39 vs 38 %, dust 29 vs 31 %, regional 13 vs 17 %; our 'industrial' is DG sets, our biomass misses small waste fires. Rank within a cell + confidence + the R² gate drive enforcement. docs/ATTRIBUTION_VALIDATION.md</a:t>
            </a:r>
            <a:r>
              <a:rPr sz="1250" b="0" i="0">
                <a:solidFill>
                  <a:srgbClr val="475569"/>
                </a:solidFill>
                <a:latin typeface="Calibri"/>
              </a:rPr>
              <a:t/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0" y="4434840"/>
            <a:ext cx="5074920" cy="178308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12280" y="4553712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59669"/>
                </a:solidFill>
                <a:latin typeface="Calibri"/>
              </a:rPr>
              <a:t>WHO IS IN THE FORECAST?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12280" y="4937760"/>
            <a:ext cx="466344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475569"/>
                </a:solidFill>
                <a:latin typeface="Calibri"/>
              </a:rPr>
              <a:t>Expected people in Very Poor / Severe air at +24/48/72 h = Σ cell population × calibrated P(&gt; band). GPW v4.11 population per cell where sampled, cited city population otherwise — the card says which. Person-hours over the outlook. Exposure, not mortality. GET /exposure · docs/HEALTH_IMPACT.md</a:t>
            </a:r>
          </a:p>
        </p:txBody>
      </p:sp>
      <p:pic>
        <p:nvPicPr>
          <p:cNvPr id="38" name="Picture 37" descr="icon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55664"/>
            <a:ext cx="256032" cy="256032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859536" y="6483096"/>
            <a:ext cx="8229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VayuNetra · ET AI Hackathon 2.0 Finale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064240" y="6483096"/>
            <a:ext cx="640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A12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